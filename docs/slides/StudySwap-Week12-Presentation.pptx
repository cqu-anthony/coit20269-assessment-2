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3E972A0-1269-FA48-AE41-3A24149721B2}">
          <p14:sldIdLst>
            <p14:sldId id="256"/>
            <p14:sldId id="257"/>
          </p14:sldIdLst>
        </p14:section>
        <p14:section name="Motivation" id="{57F96521-12C0-686E-5876-F621B253BFAA}">
          <p14:sldIdLst>
            <p14:sldId id="258"/>
          </p14:sldIdLst>
        </p14:section>
        <p14:section name="User requirements" id="{C3F56BF8-4629-53E7-56B1-C618F61A5BDB}">
          <p14:sldIdLst>
            <p14:sldId id="259"/>
          </p14:sldIdLst>
        </p14:section>
        <p14:section name="Software architecture" id="{8862819C-6F38-C8F6-B48B-B465535FA8D4}">
          <p14:sldIdLst>
            <p14:sldId id="260"/>
            <p14:sldId id="261"/>
            <p14:sldId id="262"/>
          </p14:sldIdLst>
        </p14:section>
        <p14:section name="Test results" id="{EECE32FD-1F46-F4A3-8BA4-3417D51239FA}">
          <p14:sldIdLst>
            <p14:sldId id="263"/>
            <p14:sldId id="264"/>
            <p14:sldId id="265"/>
            <p14:sldId id="266"/>
            <p14:sldId id="267"/>
          </p14:sldIdLst>
        </p14:section>
        <p14:section name="Vulnerability analysis" id="{2AFE4BDD-3B7E-0FC8-99F7-AA7C7560474D}">
          <p14:sldIdLst>
            <p14:sldId id="268"/>
            <p14:sldId id="269"/>
            <p14:sldId id="270"/>
          </p14:sldIdLst>
        </p14:section>
        <p14:section name="Demo" id="{A231FC1A-7F70-00BD-53B2-63A874BF13BC}">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2" d="100"/>
          <a:sy n="132" d="100"/>
        </p:scale>
        <p:origin x="176" y="6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7425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StudySwap in one sentence: a campus second-hand marketplace where CQU students buy and sell textbooks, furniture and electronics. Introduce the three group members.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presentation sections from the Part B marking criteria, followed by the live demonstration.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CQU students, as both sellers and buyers. Why: items turn over every term and when students move. Gap: Gumtree and Facebook Marketplace are general purpose with no student or campus context; StudentVIP focuses on textbooks. StudySwap is campus focused: every account has a campus and listings are meetup friendly. The comparison is our own summary of the competitor research in the README. Trend: hybrid mobile app with a cloud API and camera for listing photos.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Requirements are written from the user's perspective as 12 user stories in three epics: account and access, listings, and profile. Together the user flows use all four HTTP request types, GET, POST, PUT and DELETE, which exceeds the minimum of three. Out of scope for version 1: in-app chat, payments and ratings.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The client is a Cordova hybrid app built with jQuery Mobile. It sends JSON over HTTPS to the Express server, with a JWT in the Authorization header for protected requests. The server is deployed on Render and uses Express Routers, CORS, and Passport authentication. The server talks to MongoDB Atlas through Mongoose. Secrets such as the Atlas connection string and JWT secret are environment variables, never committed.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deep-dive if tutor asks. Point to docs/api-contract.md.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endpoints under /api, organised into a user router and a listing router. Browse and detail are public; create needs a valid JWT; edit and delete also check that the caller owns the listing, otherwise the API returns 403. On the right are the packages each tier relies 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five flows we tested manually. Each one has screenshots on the following slides, and the API behind each flow is also covered by the Vitest tests.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CI workflow. Be honest that device screenshots may still be pending.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from manual testing of the client. These are the login and sign-up pages. The checks listed are the acceptance criteria from user stories 1 to 3, and each one is also covered by an automated API test. We will show these flows again in the live demo.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Listing flow from manual testing. First the new listing form, with the camera button for a photo. After saving, the item shows in Browse with its price and category chip, and Browse has search, category filters and sorting. The Profile page shows the same four listings under My Listings, where the owner can edit, mark as sold or delete.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 actions from manual testing. On the listing detail page the owner sees Edit listing, Mark sold and Delete. After tapping Mark sold, the listing shows a SOLD badge and the button changes to Already sold. On the profile, My Listings now shows 3 active and 1 sold, with the sold item greyed out and its price struck through. Mark sold is a PUT request; delete is a DELETE request.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Preliminary vulnerability analysis by code review of the Express API and the client. We report, we do not fix, as the specification asks. The highest risk is the JWT in localStorage: any cross-site scripting bug would let an attacker read the token and act as the user for up to seven days. Medium findings are open CORS, no rate limit on login, unescaped regex in search, and the self-signed certificate used in development; Render provides proper TLS in deployment. Low: logout only discards the token on the client. On the right are protections we verified are in place. Full table is in docs/vulnerability-analysis.md.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scanned third-party packages. npm audit on the production dependencies reports six vulnerable packages: one critical, three high, two moderate. They come from two chains. The tar package, pulled in by bcrypt's install tooling (node-pre-gyp), has path traversal advisories; this is the critical one and needs bcrypt 6 to fix. The qs package, pulled in by Express, has denial of service advisories and is fixable with npm audit fix. NOTE: this slide shows npm audit, not Snyk. Run the Snyk scan from the Week 11 handout and paste its screenshot here; the numbers may differ slightly.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Assignment values Cordova plugins and Node packages. Point to docs/packages.md for the full table. Emphasize camera plugin + Passport/bcrypt/JWT/Mongoose as the main extras.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sign up a new account, log in, browse with search, category filter and sort, create a listing with a photo, edit it, mark it sold, delete it, view the profile, then log out. Each member should be ready to explain the code they own.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600200"/>
            <a:ext cx="4937760" cy="914400"/>
          </a:xfrm>
          <a:prstGeom prst="rect">
            <a:avLst/>
          </a:prstGeom>
          <a:noFill/>
          <a:ln/>
        </p:spPr>
        <p:txBody>
          <a:bodyPr wrap="square" rtlCol="0"/>
          <a:lstStyle>
            <a:lvl1pPr marL="0" indent="0" algn="l">
              <a:buNone/>
              <a:defRPr lang="en-US" sz="5400" b="1" dirty="0">
                <a:solidFill>
                  <a:schemeClr val="bg1"/>
                </a:solidFill>
              </a:defRPr>
            </a:lvl1pPr>
          </a:lstStyle>
          <a:p>
            <a:pPr marL="0" indent="0" algn="l">
              <a:buNone/>
            </a:pPr>
            <a:endParaRPr lang="en-US" sz="5400" dirty="0"/>
          </a:p>
        </p:txBody>
      </p:sp>
      <p:sp>
        <p:nvSpPr>
          <p:cNvPr id="3" name="Text 0"/>
          <p:cNvSpPr>
            <a:spLocks noGrp="1"/>
          </p:cNvSpPr>
          <p:nvPr>
            <p:ph type="body" idx="101" hasCustomPrompt="1"/>
          </p:nvPr>
        </p:nvSpPr>
        <p:spPr>
          <a:xfrm>
            <a:off x="548640" y="2560320"/>
            <a:ext cx="4937760" cy="548640"/>
          </a:xfrm>
          <a:prstGeom prst="rect">
            <a:avLst/>
          </a:prstGeom>
          <a:noFill/>
          <a:ln/>
        </p:spPr>
        <p:txBody>
          <a:bodyPr wrap="square" rtlCol="0"/>
          <a:lstStyle>
            <a:lvl1pPr marL="0" indent="0" algn="l">
              <a:buNone/>
              <a:defRPr lang="en-US" sz="2000" dirty="0">
                <a:solidFill>
                  <a:schemeClr val="accent1"/>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marL="0" indent="0">
              <a:buNone/>
            </a:pPr>
            <a:r>
              <a:rPr lang="en-US" sz="1000" dirty="0">
                <a:solidFill>
                  <a:schemeClr val="bg2"/>
                </a:solidFill>
              </a:rPr>
              <a:t>StudySwap  ·  COIT20269 Assignment 2  ·  Group D</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600200"/>
            <a:ext cx="4937760" cy="914400"/>
          </a:xfrm>
          <a:prstGeom prst="rect">
            <a:avLst/>
          </a:prstGeom>
          <a:noFill/>
          <a:ln/>
        </p:spPr>
        <p:txBody>
          <a:bodyPr wrap="square" lIns="0" tIns="0" rIns="0" bIns="0" rtlCol="0" anchor="ctr"/>
          <a:lstStyle/>
          <a:p>
            <a:pPr marL="0" indent="0" algn="l">
              <a:buNone/>
            </a:pPr>
            <a:r>
              <a:rPr lang="en-US" sz="5400" b="1" dirty="0">
                <a:solidFill>
                  <a:schemeClr val="bg1"/>
                </a:solidFill>
              </a:rPr>
              <a:t>StudySwap</a:t>
            </a:r>
            <a:endParaRPr lang="en-US" sz="5400" dirty="0"/>
          </a:p>
        </p:txBody>
      </p:sp>
      <p:sp>
        <p:nvSpPr>
          <p:cNvPr id="3" name="Text 0"/>
          <p:cNvSpPr>
            <a:spLocks noGrp="1"/>
          </p:cNvSpPr>
          <p:nvPr>
            <p:ph type="body" idx="101" hasCustomPrompt="1"/>
          </p:nvPr>
        </p:nvSpPr>
        <p:spPr>
          <a:xfrm>
            <a:off x="548640" y="2560320"/>
            <a:ext cx="4937760" cy="548640"/>
          </a:xfrm>
          <a:prstGeom prst="rect">
            <a:avLst/>
          </a:prstGeom>
          <a:noFill/>
          <a:ln/>
        </p:spPr>
        <p:txBody>
          <a:bodyPr wrap="square" lIns="0" tIns="0" rIns="0" bIns="0" rtlCol="0" anchor="t"/>
          <a:lstStyle/>
          <a:p>
            <a:pPr marL="0" indent="0" algn="l">
              <a:buNone/>
            </a:pPr>
            <a:r>
              <a:rPr lang="en-US" sz="2000" dirty="0">
                <a:solidFill>
                  <a:schemeClr val="accent1"/>
                </a:solidFill>
              </a:rPr>
              <a:t>Campus second-hand marketplace for CQU students</a:t>
            </a:r>
            <a:endParaRPr lang="en-US" sz="2000" dirty="0"/>
          </a:p>
        </p:txBody>
      </p:sp>
      <p:sp>
        <p:nvSpPr>
          <p:cNvPr id="4" name="pill1"/>
          <p:cNvSpPr txBox="1"/>
          <p:nvPr/>
        </p:nvSpPr>
        <p:spPr>
          <a:xfrm>
            <a:off x="548640" y="1188720"/>
            <a:ext cx="210312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1"/>
                </a:solidFill>
              </a:rPr>
              <a:t>WEEK 12 PRESENTATION</a:t>
            </a:r>
            <a:endParaRPr lang="en-US" sz="1000" dirty="0"/>
          </a:p>
        </p:txBody>
      </p:sp>
      <p:sp>
        <p:nvSpPr>
          <p:cNvPr id="5" name="text2"/>
          <p:cNvSpPr txBox="1"/>
          <p:nvPr/>
        </p:nvSpPr>
        <p:spPr>
          <a:xfrm>
            <a:off x="548640" y="3429000"/>
            <a:ext cx="4937760" cy="274320"/>
          </a:xfrm>
          <a:prstGeom prst="rect">
            <a:avLst/>
          </a:prstGeom>
          <a:noFill/>
          <a:ln/>
        </p:spPr>
        <p:txBody>
          <a:bodyPr wrap="square" lIns="0" tIns="0" rIns="0" bIns="0" rtlCol="0" anchor="t"/>
          <a:lstStyle/>
          <a:p>
            <a:pPr marL="0" indent="0">
              <a:buNone/>
            </a:pPr>
            <a:r>
              <a:rPr lang="en-US" sz="1400" b="1" dirty="0">
                <a:solidFill>
                  <a:schemeClr val="bg1"/>
                </a:solidFill>
              </a:rPr>
              <a:t>COIT20269 Assignment 2 · Group D</a:t>
            </a:r>
            <a:endParaRPr lang="en-US" sz="1400" dirty="0"/>
          </a:p>
        </p:txBody>
      </p:sp>
      <p:sp>
        <p:nvSpPr>
          <p:cNvPr id="6" name="text3"/>
          <p:cNvSpPr txBox="1"/>
          <p:nvPr/>
        </p:nvSpPr>
        <p:spPr>
          <a:xfrm>
            <a:off x="548640" y="3749040"/>
            <a:ext cx="4937760" cy="822960"/>
          </a:xfrm>
          <a:prstGeom prst="rect">
            <a:avLst/>
          </a:prstGeom>
          <a:noFill/>
          <a:ln/>
        </p:spPr>
        <p:txBody>
          <a:bodyPr wrap="square" lIns="0" tIns="0" rIns="0" bIns="0" rtlCol="0" anchor="t"/>
          <a:lstStyle/>
          <a:p>
            <a:pPr marL="0" indent="0">
              <a:buNone/>
            </a:pPr>
            <a:r>
              <a:rPr lang="en-US" sz="1300" dirty="0">
                <a:solidFill>
                  <a:schemeClr val="bg2"/>
                </a:solidFill>
              </a:rPr>
              <a:t>Yavik Umesh Dayaram · 12315332</a:t>
            </a:r>
            <a:endParaRPr lang="en-US" sz="1300" dirty="0"/>
          </a:p>
          <a:p>
            <a:pPr marL="0" indent="0">
              <a:buNone/>
            </a:pPr>
            <a:r>
              <a:rPr lang="en-US" sz="1300" dirty="0">
                <a:solidFill>
                  <a:schemeClr val="bg2"/>
                </a:solidFill>
              </a:rPr>
              <a:t>Thi My Linh Huynh · 12291057</a:t>
            </a:r>
            <a:endParaRPr lang="en-US" sz="1300" dirty="0"/>
          </a:p>
          <a:p>
            <a:pPr marL="0" indent="0">
              <a:buNone/>
            </a:pPr>
            <a:r>
              <a:rPr lang="en-US" sz="1300" dirty="0">
                <a:solidFill>
                  <a:schemeClr val="bg2"/>
                </a:solidFill>
              </a:rPr>
              <a:t>John Anthony Hosenilla Naui · 12308835</a:t>
            </a:r>
            <a:endParaRPr lang="en-US" sz="1300" dirty="0"/>
          </a:p>
        </p:txBody>
      </p:sp>
      <p:pic>
        <p:nvPicPr>
          <p:cNvPr id="7" name="hero" descr="StudySwap login screen"/>
          <p:cNvPicPr>
            <a:picLocks noChangeAspect="1"/>
          </p:cNvPicPr>
          <p:nvPr/>
        </p:nvPicPr>
        <p:blipFill>
          <a:blip r:embed="rId3"/>
          <a:stretch>
            <a:fillRect/>
          </a:stretch>
        </p:blipFill>
        <p:spPr>
          <a:xfrm>
            <a:off x="5897880" y="685800"/>
            <a:ext cx="2788920" cy="3667892"/>
          </a:xfrm>
          <a:prstGeom prst="rect">
            <a:avLst/>
          </a:prstGeom>
        </p:spPr>
      </p:pic>
      <p:sp>
        <p:nvSpPr>
          <p:cNvPr id="8" name="heroFrame"/>
          <p:cNvSpPr/>
          <p:nvPr/>
        </p:nvSpPr>
        <p:spPr>
          <a:xfrm>
            <a:off x="5897880" y="685800"/>
            <a:ext cx="2788920" cy="3667892"/>
          </a:xfrm>
          <a:prstGeom prst="rect">
            <a:avLst/>
          </a:prstGeom>
          <a:ln w="12700">
            <a:solidFill>
              <a:schemeClr val="accent6"/>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What we will cover</a:t>
            </a:r>
            <a:endParaRPr lang="en-US" sz="3000" dirty="0"/>
          </a:p>
        </p:txBody>
      </p:sp>
      <p:sp>
        <p:nvSpPr>
          <p:cNvPr id="3" name="text4"/>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Five presentation sections, then the live demo</a:t>
            </a:r>
            <a:endParaRPr lang="en-US" sz="1400" dirty="0"/>
          </a:p>
        </p:txBody>
      </p:sp>
      <p:sp>
        <p:nvSpPr>
          <p:cNvPr id="4" name="card5"/>
          <p:cNvSpPr/>
          <p:nvPr/>
        </p:nvSpPr>
        <p:spPr>
          <a:xfrm>
            <a:off x="457200" y="1188720"/>
            <a:ext cx="4023360" cy="914400"/>
          </a:xfrm>
          <a:prstGeom prst="roundRect">
            <a:avLst>
              <a:gd name="adj" fmla="val 12000"/>
            </a:avLst>
          </a:prstGeom>
          <a:solidFill>
            <a:schemeClr val="tx2"/>
          </a:solidFill>
          <a:ln w="9525">
            <a:solidFill>
              <a:schemeClr val="accent6"/>
            </a:solidFill>
            <a:prstDash val="solid"/>
          </a:ln>
        </p:spPr>
        <p:txBody>
          <a:bodyPr/>
          <a:lstStyle/>
          <a:p>
            <a:endParaRPr lang="en-US"/>
          </a:p>
        </p:txBody>
      </p:sp>
      <p:sp>
        <p:nvSpPr>
          <p:cNvPr id="5" name="dot6"/>
          <p:cNvSpPr txBox="1"/>
          <p:nvPr/>
        </p:nvSpPr>
        <p:spPr>
          <a:xfrm>
            <a:off x="685800" y="1453896"/>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1</a:t>
            </a:r>
            <a:endParaRPr lang="en-US" sz="1400" dirty="0"/>
          </a:p>
        </p:txBody>
      </p:sp>
      <p:sp>
        <p:nvSpPr>
          <p:cNvPr id="6" name="text7"/>
          <p:cNvSpPr txBox="1"/>
          <p:nvPr/>
        </p:nvSpPr>
        <p:spPr>
          <a:xfrm>
            <a:off x="1280160" y="1371600"/>
            <a:ext cx="3017520" cy="274320"/>
          </a:xfrm>
          <a:prstGeom prst="rect">
            <a:avLst/>
          </a:prstGeom>
          <a:noFill/>
          <a:ln/>
        </p:spPr>
        <p:txBody>
          <a:bodyPr wrap="square" lIns="0" tIns="0" rIns="0" bIns="0" rtlCol="0" anchor="t"/>
          <a:lstStyle/>
          <a:p>
            <a:pPr marL="0" indent="0">
              <a:buNone/>
            </a:pPr>
            <a:r>
              <a:rPr lang="en-US" sz="1600" b="1" dirty="0">
                <a:solidFill>
                  <a:schemeClr val="bg1"/>
                </a:solidFill>
              </a:rPr>
              <a:t>Motivation</a:t>
            </a:r>
            <a:endParaRPr lang="en-US" sz="1600" dirty="0"/>
          </a:p>
        </p:txBody>
      </p:sp>
      <p:sp>
        <p:nvSpPr>
          <p:cNvPr id="7" name="text8"/>
          <p:cNvSpPr txBox="1"/>
          <p:nvPr/>
        </p:nvSpPr>
        <p:spPr>
          <a:xfrm>
            <a:off x="1280160" y="1664208"/>
            <a:ext cx="3017520" cy="274320"/>
          </a:xfrm>
          <a:prstGeom prst="rect">
            <a:avLst/>
          </a:prstGeom>
          <a:noFill/>
          <a:ln/>
        </p:spPr>
        <p:txBody>
          <a:bodyPr wrap="square" lIns="0" tIns="0" rIns="0" bIns="0" rtlCol="0" anchor="t"/>
          <a:lstStyle/>
          <a:p>
            <a:pPr marL="0" indent="0">
              <a:buNone/>
            </a:pPr>
            <a:r>
              <a:rPr lang="en-US" sz="1200" dirty="0">
                <a:solidFill>
                  <a:schemeClr val="bg2"/>
                </a:solidFill>
              </a:rPr>
              <a:t>Who uses StudySwap and why</a:t>
            </a:r>
            <a:endParaRPr lang="en-US" sz="1200" dirty="0"/>
          </a:p>
        </p:txBody>
      </p:sp>
      <p:sp>
        <p:nvSpPr>
          <p:cNvPr id="8" name="card9"/>
          <p:cNvSpPr/>
          <p:nvPr/>
        </p:nvSpPr>
        <p:spPr>
          <a:xfrm>
            <a:off x="4663440" y="1188720"/>
            <a:ext cx="4023360" cy="914400"/>
          </a:xfrm>
          <a:prstGeom prst="roundRect">
            <a:avLst>
              <a:gd name="adj" fmla="val 12000"/>
            </a:avLst>
          </a:prstGeom>
          <a:solidFill>
            <a:schemeClr val="tx2"/>
          </a:solidFill>
          <a:ln w="9525">
            <a:solidFill>
              <a:schemeClr val="accent6"/>
            </a:solidFill>
            <a:prstDash val="solid"/>
          </a:ln>
        </p:spPr>
        <p:txBody>
          <a:bodyPr/>
          <a:lstStyle/>
          <a:p>
            <a:endParaRPr lang="en-US"/>
          </a:p>
        </p:txBody>
      </p:sp>
      <p:sp>
        <p:nvSpPr>
          <p:cNvPr id="9" name="dot10"/>
          <p:cNvSpPr txBox="1"/>
          <p:nvPr/>
        </p:nvSpPr>
        <p:spPr>
          <a:xfrm>
            <a:off x="4892040" y="1453896"/>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2</a:t>
            </a:r>
            <a:endParaRPr lang="en-US" sz="1400" dirty="0"/>
          </a:p>
        </p:txBody>
      </p:sp>
      <p:sp>
        <p:nvSpPr>
          <p:cNvPr id="10" name="text11"/>
          <p:cNvSpPr txBox="1"/>
          <p:nvPr/>
        </p:nvSpPr>
        <p:spPr>
          <a:xfrm>
            <a:off x="5486400" y="1371600"/>
            <a:ext cx="3017520" cy="274320"/>
          </a:xfrm>
          <a:prstGeom prst="rect">
            <a:avLst/>
          </a:prstGeom>
          <a:noFill/>
          <a:ln/>
        </p:spPr>
        <p:txBody>
          <a:bodyPr wrap="square" lIns="0" tIns="0" rIns="0" bIns="0" rtlCol="0" anchor="t"/>
          <a:lstStyle/>
          <a:p>
            <a:pPr marL="0" indent="0">
              <a:buNone/>
            </a:pPr>
            <a:r>
              <a:rPr lang="en-US" sz="1600" b="1" dirty="0">
                <a:solidFill>
                  <a:schemeClr val="bg1"/>
                </a:solidFill>
              </a:rPr>
              <a:t>User requirements</a:t>
            </a:r>
            <a:endParaRPr lang="en-US" sz="1600" dirty="0"/>
          </a:p>
        </p:txBody>
      </p:sp>
      <p:sp>
        <p:nvSpPr>
          <p:cNvPr id="11" name="text12"/>
          <p:cNvSpPr txBox="1"/>
          <p:nvPr/>
        </p:nvSpPr>
        <p:spPr>
          <a:xfrm>
            <a:off x="5486400" y="1664208"/>
            <a:ext cx="3017520" cy="274320"/>
          </a:xfrm>
          <a:prstGeom prst="rect">
            <a:avLst/>
          </a:prstGeom>
          <a:noFill/>
          <a:ln/>
        </p:spPr>
        <p:txBody>
          <a:bodyPr wrap="square" lIns="0" tIns="0" rIns="0" bIns="0" rtlCol="0" anchor="t"/>
          <a:lstStyle/>
          <a:p>
            <a:pPr marL="0" indent="0">
              <a:buNone/>
            </a:pPr>
            <a:r>
              <a:rPr lang="en-US" sz="1200" dirty="0">
                <a:solidFill>
                  <a:schemeClr val="bg2"/>
                </a:solidFill>
              </a:rPr>
              <a:t>What students need from the app</a:t>
            </a:r>
            <a:endParaRPr lang="en-US" sz="1200" dirty="0"/>
          </a:p>
        </p:txBody>
      </p:sp>
      <p:sp>
        <p:nvSpPr>
          <p:cNvPr id="12" name="card13"/>
          <p:cNvSpPr/>
          <p:nvPr/>
        </p:nvSpPr>
        <p:spPr>
          <a:xfrm>
            <a:off x="457200" y="2286000"/>
            <a:ext cx="4023360" cy="914400"/>
          </a:xfrm>
          <a:prstGeom prst="roundRect">
            <a:avLst>
              <a:gd name="adj" fmla="val 12000"/>
            </a:avLst>
          </a:prstGeom>
          <a:solidFill>
            <a:schemeClr val="tx2"/>
          </a:solidFill>
          <a:ln w="9525">
            <a:solidFill>
              <a:schemeClr val="accent6"/>
            </a:solidFill>
            <a:prstDash val="solid"/>
          </a:ln>
        </p:spPr>
        <p:txBody>
          <a:bodyPr/>
          <a:lstStyle/>
          <a:p>
            <a:endParaRPr lang="en-US"/>
          </a:p>
        </p:txBody>
      </p:sp>
      <p:sp>
        <p:nvSpPr>
          <p:cNvPr id="13" name="dot14"/>
          <p:cNvSpPr txBox="1"/>
          <p:nvPr/>
        </p:nvSpPr>
        <p:spPr>
          <a:xfrm>
            <a:off x="685800" y="2551176"/>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3</a:t>
            </a:r>
            <a:endParaRPr lang="en-US" sz="1400" dirty="0"/>
          </a:p>
        </p:txBody>
      </p:sp>
      <p:sp>
        <p:nvSpPr>
          <p:cNvPr id="14" name="text15"/>
          <p:cNvSpPr txBox="1"/>
          <p:nvPr/>
        </p:nvSpPr>
        <p:spPr>
          <a:xfrm>
            <a:off x="1280160" y="2468880"/>
            <a:ext cx="3017520" cy="274320"/>
          </a:xfrm>
          <a:prstGeom prst="rect">
            <a:avLst/>
          </a:prstGeom>
          <a:noFill/>
          <a:ln/>
        </p:spPr>
        <p:txBody>
          <a:bodyPr wrap="square" lIns="0" tIns="0" rIns="0" bIns="0" rtlCol="0" anchor="t"/>
          <a:lstStyle/>
          <a:p>
            <a:pPr marL="0" indent="0">
              <a:buNone/>
            </a:pPr>
            <a:r>
              <a:rPr lang="en-US" sz="1600" b="1" dirty="0">
                <a:solidFill>
                  <a:schemeClr val="bg1"/>
                </a:solidFill>
              </a:rPr>
              <a:t>Software architecture</a:t>
            </a:r>
            <a:endParaRPr lang="en-US" sz="1600" dirty="0"/>
          </a:p>
        </p:txBody>
      </p:sp>
      <p:sp>
        <p:nvSpPr>
          <p:cNvPr id="15" name="text16"/>
          <p:cNvSpPr txBox="1"/>
          <p:nvPr/>
        </p:nvSpPr>
        <p:spPr>
          <a:xfrm>
            <a:off x="1280160" y="2761488"/>
            <a:ext cx="3017520" cy="274320"/>
          </a:xfrm>
          <a:prstGeom prst="rect">
            <a:avLst/>
          </a:prstGeom>
          <a:noFill/>
          <a:ln/>
        </p:spPr>
        <p:txBody>
          <a:bodyPr wrap="square" lIns="0" tIns="0" rIns="0" bIns="0" rtlCol="0" anchor="t"/>
          <a:lstStyle/>
          <a:p>
            <a:pPr marL="0" indent="0">
              <a:buNone/>
            </a:pPr>
            <a:r>
              <a:rPr lang="en-US" sz="1200" dirty="0">
                <a:solidFill>
                  <a:schemeClr val="bg2"/>
                </a:solidFill>
              </a:rPr>
              <a:t>Three tiers, all components</a:t>
            </a:r>
            <a:endParaRPr lang="en-US" sz="1200" dirty="0"/>
          </a:p>
        </p:txBody>
      </p:sp>
      <p:sp>
        <p:nvSpPr>
          <p:cNvPr id="16" name="card17"/>
          <p:cNvSpPr/>
          <p:nvPr/>
        </p:nvSpPr>
        <p:spPr>
          <a:xfrm>
            <a:off x="4663440" y="2286000"/>
            <a:ext cx="4023360" cy="914400"/>
          </a:xfrm>
          <a:prstGeom prst="roundRect">
            <a:avLst>
              <a:gd name="adj" fmla="val 12000"/>
            </a:avLst>
          </a:prstGeom>
          <a:solidFill>
            <a:schemeClr val="tx2"/>
          </a:solidFill>
          <a:ln w="9525">
            <a:solidFill>
              <a:schemeClr val="accent6"/>
            </a:solidFill>
            <a:prstDash val="solid"/>
          </a:ln>
        </p:spPr>
        <p:txBody>
          <a:bodyPr/>
          <a:lstStyle/>
          <a:p>
            <a:endParaRPr lang="en-US"/>
          </a:p>
        </p:txBody>
      </p:sp>
      <p:sp>
        <p:nvSpPr>
          <p:cNvPr id="17" name="dot18"/>
          <p:cNvSpPr txBox="1"/>
          <p:nvPr/>
        </p:nvSpPr>
        <p:spPr>
          <a:xfrm>
            <a:off x="4892040" y="2551176"/>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4</a:t>
            </a:r>
            <a:endParaRPr lang="en-US" sz="1400" dirty="0"/>
          </a:p>
        </p:txBody>
      </p:sp>
      <p:sp>
        <p:nvSpPr>
          <p:cNvPr id="18" name="text19"/>
          <p:cNvSpPr txBox="1"/>
          <p:nvPr/>
        </p:nvSpPr>
        <p:spPr>
          <a:xfrm>
            <a:off x="5486400" y="2468880"/>
            <a:ext cx="3017520" cy="274320"/>
          </a:xfrm>
          <a:prstGeom prst="rect">
            <a:avLst/>
          </a:prstGeom>
          <a:noFill/>
          <a:ln/>
        </p:spPr>
        <p:txBody>
          <a:bodyPr wrap="square" lIns="0" tIns="0" rIns="0" bIns="0" rtlCol="0" anchor="t"/>
          <a:lstStyle/>
          <a:p>
            <a:pPr marL="0" indent="0">
              <a:buNone/>
            </a:pPr>
            <a:r>
              <a:rPr lang="en-US" sz="1600" b="1" dirty="0">
                <a:solidFill>
                  <a:schemeClr val="bg1"/>
                </a:solidFill>
              </a:rPr>
              <a:t>Test results</a:t>
            </a:r>
            <a:endParaRPr lang="en-US" sz="1600" dirty="0"/>
          </a:p>
        </p:txBody>
      </p:sp>
      <p:sp>
        <p:nvSpPr>
          <p:cNvPr id="19" name="text20"/>
          <p:cNvSpPr txBox="1"/>
          <p:nvPr/>
        </p:nvSpPr>
        <p:spPr>
          <a:xfrm>
            <a:off x="5486400" y="2761488"/>
            <a:ext cx="3017520" cy="274320"/>
          </a:xfrm>
          <a:prstGeom prst="rect">
            <a:avLst/>
          </a:prstGeom>
          <a:noFill/>
          <a:ln/>
        </p:spPr>
        <p:txBody>
          <a:bodyPr wrap="square" lIns="0" tIns="0" rIns="0" bIns="0" rtlCol="0" anchor="t"/>
          <a:lstStyle/>
          <a:p>
            <a:pPr marL="0" indent="0">
              <a:buNone/>
            </a:pPr>
            <a:r>
              <a:rPr lang="en-US" sz="1200" dirty="0">
                <a:solidFill>
                  <a:schemeClr val="bg2"/>
                </a:solidFill>
              </a:rPr>
              <a:t>Automated API tests and app screens</a:t>
            </a:r>
            <a:endParaRPr lang="en-US" sz="1200" dirty="0"/>
          </a:p>
        </p:txBody>
      </p:sp>
      <p:sp>
        <p:nvSpPr>
          <p:cNvPr id="20" name="card21"/>
          <p:cNvSpPr/>
          <p:nvPr/>
        </p:nvSpPr>
        <p:spPr>
          <a:xfrm>
            <a:off x="457200" y="3383280"/>
            <a:ext cx="4023360" cy="914400"/>
          </a:xfrm>
          <a:prstGeom prst="roundRect">
            <a:avLst>
              <a:gd name="adj" fmla="val 12000"/>
            </a:avLst>
          </a:prstGeom>
          <a:solidFill>
            <a:schemeClr val="tx2"/>
          </a:solidFill>
          <a:ln w="9525">
            <a:solidFill>
              <a:schemeClr val="accent6"/>
            </a:solidFill>
            <a:prstDash val="solid"/>
          </a:ln>
        </p:spPr>
        <p:txBody>
          <a:bodyPr/>
          <a:lstStyle/>
          <a:p>
            <a:endParaRPr lang="en-US"/>
          </a:p>
        </p:txBody>
      </p:sp>
      <p:sp>
        <p:nvSpPr>
          <p:cNvPr id="21" name="dot22"/>
          <p:cNvSpPr txBox="1"/>
          <p:nvPr/>
        </p:nvSpPr>
        <p:spPr>
          <a:xfrm>
            <a:off x="685800" y="3648456"/>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5</a:t>
            </a:r>
            <a:endParaRPr lang="en-US" sz="1400" dirty="0"/>
          </a:p>
        </p:txBody>
      </p:sp>
      <p:sp>
        <p:nvSpPr>
          <p:cNvPr id="22" name="text23"/>
          <p:cNvSpPr txBox="1"/>
          <p:nvPr/>
        </p:nvSpPr>
        <p:spPr>
          <a:xfrm>
            <a:off x="1280160" y="3566160"/>
            <a:ext cx="3017520" cy="274320"/>
          </a:xfrm>
          <a:prstGeom prst="rect">
            <a:avLst/>
          </a:prstGeom>
          <a:noFill/>
          <a:ln/>
        </p:spPr>
        <p:txBody>
          <a:bodyPr wrap="square" lIns="0" tIns="0" rIns="0" bIns="0" rtlCol="0" anchor="t"/>
          <a:lstStyle/>
          <a:p>
            <a:pPr marL="0" indent="0">
              <a:buNone/>
            </a:pPr>
            <a:r>
              <a:rPr lang="en-US" sz="1600" b="1" dirty="0">
                <a:solidFill>
                  <a:schemeClr val="bg1"/>
                </a:solidFill>
              </a:rPr>
              <a:t>Vulnerability analysis</a:t>
            </a:r>
            <a:endParaRPr lang="en-US" sz="1600" dirty="0"/>
          </a:p>
        </p:txBody>
      </p:sp>
      <p:sp>
        <p:nvSpPr>
          <p:cNvPr id="23" name="text24"/>
          <p:cNvSpPr txBox="1"/>
          <p:nvPr/>
        </p:nvSpPr>
        <p:spPr>
          <a:xfrm>
            <a:off x="1280160" y="3858768"/>
            <a:ext cx="3017520" cy="274320"/>
          </a:xfrm>
          <a:prstGeom prst="rect">
            <a:avLst/>
          </a:prstGeom>
          <a:noFill/>
          <a:ln/>
        </p:spPr>
        <p:txBody>
          <a:bodyPr wrap="square" lIns="0" tIns="0" rIns="0" bIns="0" rtlCol="0" anchor="t"/>
          <a:lstStyle/>
          <a:p>
            <a:pPr marL="0" indent="0">
              <a:buNone/>
            </a:pPr>
            <a:r>
              <a:rPr lang="en-US" sz="1200" dirty="0">
                <a:solidFill>
                  <a:schemeClr val="bg2"/>
                </a:solidFill>
              </a:rPr>
              <a:t>Code review and dependency scan</a:t>
            </a:r>
            <a:endParaRPr lang="en-US" sz="1200" dirty="0"/>
          </a:p>
        </p:txBody>
      </p:sp>
      <p:sp>
        <p:nvSpPr>
          <p:cNvPr id="24" name="card25"/>
          <p:cNvSpPr/>
          <p:nvPr/>
        </p:nvSpPr>
        <p:spPr>
          <a:xfrm>
            <a:off x="4663440" y="3383280"/>
            <a:ext cx="4023360" cy="914400"/>
          </a:xfrm>
          <a:prstGeom prst="roundRect">
            <a:avLst>
              <a:gd name="adj" fmla="val 12000"/>
            </a:avLst>
          </a:prstGeom>
          <a:solidFill>
            <a:schemeClr val="tx2"/>
          </a:solidFill>
          <a:ln w="9525">
            <a:solidFill>
              <a:schemeClr val="accent6"/>
            </a:solidFill>
            <a:prstDash val="solid"/>
          </a:ln>
        </p:spPr>
        <p:txBody>
          <a:bodyPr/>
          <a:lstStyle/>
          <a:p>
            <a:endParaRPr lang="en-US"/>
          </a:p>
        </p:txBody>
      </p:sp>
      <p:sp>
        <p:nvSpPr>
          <p:cNvPr id="25" name="dot26"/>
          <p:cNvSpPr txBox="1"/>
          <p:nvPr/>
        </p:nvSpPr>
        <p:spPr>
          <a:xfrm>
            <a:off x="4892040" y="3648456"/>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6</a:t>
            </a:r>
            <a:endParaRPr lang="en-US" sz="1400" dirty="0"/>
          </a:p>
        </p:txBody>
      </p:sp>
      <p:sp>
        <p:nvSpPr>
          <p:cNvPr id="26" name="text27"/>
          <p:cNvSpPr txBox="1"/>
          <p:nvPr/>
        </p:nvSpPr>
        <p:spPr>
          <a:xfrm>
            <a:off x="5486400" y="3566160"/>
            <a:ext cx="3017520" cy="274320"/>
          </a:xfrm>
          <a:prstGeom prst="rect">
            <a:avLst/>
          </a:prstGeom>
          <a:noFill/>
          <a:ln/>
        </p:spPr>
        <p:txBody>
          <a:bodyPr wrap="square" lIns="0" tIns="0" rIns="0" bIns="0" rtlCol="0" anchor="t"/>
          <a:lstStyle/>
          <a:p>
            <a:pPr marL="0" indent="0">
              <a:buNone/>
            </a:pPr>
            <a:r>
              <a:rPr lang="en-US" sz="1600" b="1" dirty="0">
                <a:solidFill>
                  <a:schemeClr val="bg1"/>
                </a:solidFill>
              </a:rPr>
              <a:t>Live demo</a:t>
            </a:r>
            <a:endParaRPr lang="en-US" sz="1600" dirty="0"/>
          </a:p>
        </p:txBody>
      </p:sp>
      <p:sp>
        <p:nvSpPr>
          <p:cNvPr id="27" name="text28"/>
          <p:cNvSpPr txBox="1"/>
          <p:nvPr/>
        </p:nvSpPr>
        <p:spPr>
          <a:xfrm>
            <a:off x="5486400" y="3858768"/>
            <a:ext cx="3017520" cy="274320"/>
          </a:xfrm>
          <a:prstGeom prst="rect">
            <a:avLst/>
          </a:prstGeom>
          <a:noFill/>
          <a:ln/>
        </p:spPr>
        <p:txBody>
          <a:bodyPr wrap="square" lIns="0" tIns="0" rIns="0" bIns="0" rtlCol="0" anchor="t"/>
          <a:lstStyle/>
          <a:p>
            <a:pPr marL="0" indent="0">
              <a:buNone/>
            </a:pPr>
            <a:r>
              <a:rPr lang="en-US" sz="1200" dirty="0">
                <a:solidFill>
                  <a:schemeClr val="bg2"/>
                </a:solidFill>
              </a:rPr>
              <a:t>The app running end to end</a:t>
            </a:r>
            <a:endParaRPr lang="en-US" sz="1200" dirty="0"/>
          </a:p>
        </p:txBody>
      </p:sp>
      <p:sp>
        <p:nvSpPr>
          <p:cNvPr id="28"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Motivation: No trusted place to trade on campus</a:t>
            </a:r>
            <a:endParaRPr lang="en-US" sz="3000" dirty="0"/>
          </a:p>
        </p:txBody>
      </p:sp>
      <p:sp>
        <p:nvSpPr>
          <p:cNvPr id="3" name="text29"/>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Who will use StudySwap and why</a:t>
            </a:r>
            <a:endParaRPr lang="en-US" sz="1400" dirty="0"/>
          </a:p>
        </p:txBody>
      </p:sp>
      <p:sp>
        <p:nvSpPr>
          <p:cNvPr id="4" name="card30"/>
          <p:cNvSpPr/>
          <p:nvPr/>
        </p:nvSpPr>
        <p:spPr>
          <a:xfrm>
            <a:off x="457200" y="1143000"/>
            <a:ext cx="3017520" cy="3383280"/>
          </a:xfrm>
          <a:prstGeom prst="roundRect">
            <a:avLst>
              <a:gd name="adj" fmla="val 3636"/>
            </a:avLst>
          </a:prstGeom>
          <a:solidFill>
            <a:schemeClr val="tx2"/>
          </a:solidFill>
          <a:ln w="9525">
            <a:solidFill>
              <a:schemeClr val="accent6"/>
            </a:solidFill>
            <a:prstDash val="solid"/>
          </a:ln>
        </p:spPr>
        <p:txBody>
          <a:bodyPr/>
          <a:lstStyle/>
          <a:p>
            <a:endParaRPr lang="en-US"/>
          </a:p>
        </p:txBody>
      </p:sp>
      <p:sp>
        <p:nvSpPr>
          <p:cNvPr id="5" name="pill31"/>
          <p:cNvSpPr txBox="1"/>
          <p:nvPr/>
        </p:nvSpPr>
        <p:spPr>
          <a:xfrm>
            <a:off x="685800" y="1371600"/>
            <a:ext cx="164592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1"/>
                </a:solidFill>
              </a:rPr>
              <a:t>TARGET AUDIENCE</a:t>
            </a:r>
            <a:endParaRPr lang="en-US" sz="1000" dirty="0"/>
          </a:p>
        </p:txBody>
      </p:sp>
      <p:sp>
        <p:nvSpPr>
          <p:cNvPr id="6" name="text32"/>
          <p:cNvSpPr txBox="1"/>
          <p:nvPr/>
        </p:nvSpPr>
        <p:spPr>
          <a:xfrm>
            <a:off x="685800" y="1783080"/>
            <a:ext cx="2560320" cy="365760"/>
          </a:xfrm>
          <a:prstGeom prst="rect">
            <a:avLst/>
          </a:prstGeom>
          <a:noFill/>
          <a:ln/>
        </p:spPr>
        <p:txBody>
          <a:bodyPr wrap="square" lIns="0" tIns="0" rIns="0" bIns="0" rtlCol="0" anchor="t"/>
          <a:lstStyle/>
          <a:p>
            <a:pPr marL="0" indent="0">
              <a:buNone/>
            </a:pPr>
            <a:r>
              <a:rPr lang="en-US" sz="2200" b="1" dirty="0">
                <a:solidFill>
                  <a:schemeClr val="bg1"/>
                </a:solidFill>
              </a:rPr>
              <a:t>CQU students</a:t>
            </a:r>
            <a:endParaRPr lang="en-US" sz="2200" dirty="0"/>
          </a:p>
        </p:txBody>
      </p:sp>
      <p:sp>
        <p:nvSpPr>
          <p:cNvPr id="7" name="text33"/>
          <p:cNvSpPr txBox="1"/>
          <p:nvPr/>
        </p:nvSpPr>
        <p:spPr>
          <a:xfrm>
            <a:off x="685800" y="2286000"/>
            <a:ext cx="2560320" cy="2103120"/>
          </a:xfrm>
          <a:prstGeom prst="rect">
            <a:avLst/>
          </a:prstGeom>
          <a:noFill/>
          <a:ln/>
        </p:spPr>
        <p:txBody>
          <a:bodyPr wrap="square" lIns="0" tIns="0" rIns="0" bIns="0" rtlCol="0" anchor="t"/>
          <a:lstStyle/>
          <a:p>
            <a:pPr marL="0" indent="0">
              <a:buNone/>
            </a:pPr>
            <a:r>
              <a:rPr lang="en-US" sz="1400" b="1" dirty="0">
                <a:solidFill>
                  <a:schemeClr val="accent2"/>
                </a:solidFill>
              </a:rPr>
              <a:t>Sellers</a:t>
            </a:r>
            <a:endParaRPr lang="en-US" sz="1400" dirty="0"/>
          </a:p>
          <a:p>
            <a:pPr marL="0" indent="0">
              <a:spcAft>
                <a:spcPts val="1000"/>
              </a:spcAft>
              <a:buNone/>
            </a:pPr>
            <a:r>
              <a:rPr lang="en-US" sz="1400" dirty="0">
                <a:solidFill>
                  <a:schemeClr val="bg1"/>
                </a:solidFill>
              </a:rPr>
              <a:t>Clearing textbooks, furniture and electronics before moving or between terms</a:t>
            </a:r>
            <a:endParaRPr lang="en-US" sz="1400" dirty="0"/>
          </a:p>
          <a:p>
            <a:pPr marL="0" indent="0">
              <a:buNone/>
            </a:pPr>
            <a:r>
              <a:rPr lang="en-US" sz="1400" b="1" dirty="0">
                <a:solidFill>
                  <a:schemeClr val="accent3"/>
                </a:solidFill>
              </a:rPr>
              <a:t>Buyers</a:t>
            </a:r>
            <a:endParaRPr lang="en-US" sz="1400" dirty="0"/>
          </a:p>
          <a:p>
            <a:pPr marL="0" indent="0">
              <a:buNone/>
            </a:pPr>
            <a:r>
              <a:rPr lang="en-US" sz="1400" dirty="0">
                <a:solidFill>
                  <a:schemeClr val="bg1"/>
                </a:solidFill>
              </a:rPr>
              <a:t>Looking for cheap items from people they can meet safely on campus</a:t>
            </a:r>
            <a:endParaRPr lang="en-US" sz="1400" dirty="0"/>
          </a:p>
        </p:txBody>
      </p:sp>
      <p:sp>
        <p:nvSpPr>
          <p:cNvPr id="8" name="text34"/>
          <p:cNvSpPr txBox="1"/>
          <p:nvPr/>
        </p:nvSpPr>
        <p:spPr>
          <a:xfrm>
            <a:off x="3657600" y="1188720"/>
            <a:ext cx="1828800" cy="274320"/>
          </a:xfrm>
          <a:prstGeom prst="rect">
            <a:avLst/>
          </a:prstGeom>
          <a:noFill/>
          <a:ln/>
        </p:spPr>
        <p:txBody>
          <a:bodyPr wrap="square" lIns="0" tIns="0" rIns="0" bIns="0" rtlCol="0" anchor="t"/>
          <a:lstStyle/>
          <a:p>
            <a:pPr marL="0" indent="0">
              <a:buNone/>
            </a:pPr>
            <a:r>
              <a:rPr lang="en-US" sz="1000" b="1" kern="0" spc="100" dirty="0">
                <a:solidFill>
                  <a:schemeClr val="bg2"/>
                </a:solidFill>
              </a:rPr>
              <a:t>MARKET GAP</a:t>
            </a:r>
            <a:endParaRPr lang="en-US" sz="1000" dirty="0"/>
          </a:p>
        </p:txBody>
      </p:sp>
      <p:sp>
        <p:nvSpPr>
          <p:cNvPr id="9" name="text35"/>
          <p:cNvSpPr txBox="1"/>
          <p:nvPr/>
        </p:nvSpPr>
        <p:spPr>
          <a:xfrm>
            <a:off x="5577840" y="1097280"/>
            <a:ext cx="1005840" cy="411480"/>
          </a:xfrm>
          <a:prstGeom prst="rect">
            <a:avLst/>
          </a:prstGeom>
          <a:noFill/>
          <a:ln/>
        </p:spPr>
        <p:txBody>
          <a:bodyPr wrap="square" lIns="0" tIns="0" rIns="0" bIns="0" rtlCol="0" anchor="ctr"/>
          <a:lstStyle/>
          <a:p>
            <a:pPr marL="0" indent="0" algn="ctr">
              <a:buNone/>
            </a:pPr>
            <a:r>
              <a:rPr lang="en-US" sz="1100" b="1" dirty="0">
                <a:solidFill>
                  <a:schemeClr val="bg1"/>
                </a:solidFill>
              </a:rPr>
              <a:t>General</a:t>
            </a:r>
            <a:endParaRPr lang="en-US" sz="1100" dirty="0"/>
          </a:p>
          <a:p>
            <a:pPr marL="0" indent="0" algn="ctr">
              <a:buNone/>
            </a:pPr>
            <a:r>
              <a:rPr lang="en-US" sz="1100" b="1" dirty="0">
                <a:solidFill>
                  <a:schemeClr val="bg1"/>
                </a:solidFill>
              </a:rPr>
              <a:t>marketplaces</a:t>
            </a:r>
            <a:endParaRPr lang="en-US" sz="1100" dirty="0"/>
          </a:p>
        </p:txBody>
      </p:sp>
      <p:sp>
        <p:nvSpPr>
          <p:cNvPr id="10" name="text36"/>
          <p:cNvSpPr txBox="1"/>
          <p:nvPr/>
        </p:nvSpPr>
        <p:spPr>
          <a:xfrm>
            <a:off x="6629400" y="1097280"/>
            <a:ext cx="1005840" cy="411480"/>
          </a:xfrm>
          <a:prstGeom prst="rect">
            <a:avLst/>
          </a:prstGeom>
          <a:noFill/>
          <a:ln/>
        </p:spPr>
        <p:txBody>
          <a:bodyPr wrap="square" lIns="0" tIns="0" rIns="0" bIns="0" rtlCol="0" anchor="ctr"/>
          <a:lstStyle/>
          <a:p>
            <a:pPr marL="0" indent="0" algn="ctr">
              <a:buNone/>
            </a:pPr>
            <a:r>
              <a:rPr lang="en-US" sz="1100" b="1" dirty="0">
                <a:solidFill>
                  <a:schemeClr val="bg1"/>
                </a:solidFill>
              </a:rPr>
              <a:t>StudentVIP</a:t>
            </a:r>
            <a:endParaRPr lang="en-US" sz="1100" dirty="0"/>
          </a:p>
        </p:txBody>
      </p:sp>
      <p:sp>
        <p:nvSpPr>
          <p:cNvPr id="11" name="text37"/>
          <p:cNvSpPr txBox="1"/>
          <p:nvPr/>
        </p:nvSpPr>
        <p:spPr>
          <a:xfrm>
            <a:off x="7680960" y="1097280"/>
            <a:ext cx="1005840" cy="411480"/>
          </a:xfrm>
          <a:prstGeom prst="rect">
            <a:avLst/>
          </a:prstGeom>
          <a:noFill/>
          <a:ln/>
        </p:spPr>
        <p:txBody>
          <a:bodyPr wrap="square" lIns="0" tIns="0" rIns="0" bIns="0" rtlCol="0" anchor="ctr"/>
          <a:lstStyle/>
          <a:p>
            <a:pPr marL="0" indent="0" algn="ctr">
              <a:buNone/>
            </a:pPr>
            <a:r>
              <a:rPr lang="en-US" sz="1100" b="1" dirty="0">
                <a:solidFill>
                  <a:schemeClr val="accent1"/>
                </a:solidFill>
              </a:rPr>
              <a:t>StudySwap</a:t>
            </a:r>
            <a:endParaRPr lang="en-US" sz="1100" dirty="0"/>
          </a:p>
        </p:txBody>
      </p:sp>
      <p:sp>
        <p:nvSpPr>
          <p:cNvPr id="12" name="card38"/>
          <p:cNvSpPr/>
          <p:nvPr/>
        </p:nvSpPr>
        <p:spPr>
          <a:xfrm>
            <a:off x="3657600" y="1645920"/>
            <a:ext cx="5029200" cy="475488"/>
          </a:xfrm>
          <a:prstGeom prst="roundRect">
            <a:avLst>
              <a:gd name="adj" fmla="val 23077"/>
            </a:avLst>
          </a:prstGeom>
          <a:solidFill>
            <a:schemeClr val="tx2"/>
          </a:solidFill>
          <a:ln w="9525">
            <a:solidFill>
              <a:schemeClr val="accent6"/>
            </a:solidFill>
            <a:prstDash val="solid"/>
          </a:ln>
        </p:spPr>
        <p:txBody>
          <a:bodyPr/>
          <a:lstStyle/>
          <a:p>
            <a:endParaRPr lang="en-US"/>
          </a:p>
        </p:txBody>
      </p:sp>
      <p:sp>
        <p:nvSpPr>
          <p:cNvPr id="13" name="text39"/>
          <p:cNvSpPr txBox="1"/>
          <p:nvPr/>
        </p:nvSpPr>
        <p:spPr>
          <a:xfrm>
            <a:off x="3840480" y="1645920"/>
            <a:ext cx="1828800" cy="475488"/>
          </a:xfrm>
          <a:prstGeom prst="rect">
            <a:avLst/>
          </a:prstGeom>
          <a:noFill/>
          <a:ln/>
        </p:spPr>
        <p:txBody>
          <a:bodyPr wrap="square" lIns="0" tIns="0" rIns="0" bIns="0" rtlCol="0" anchor="ctr"/>
          <a:lstStyle/>
          <a:p>
            <a:pPr marL="0" indent="0">
              <a:buNone/>
            </a:pPr>
            <a:r>
              <a:rPr lang="en-US" sz="1200" dirty="0">
                <a:solidFill>
                  <a:schemeClr val="bg1"/>
                </a:solidFill>
              </a:rPr>
              <a:t>Built for students</a:t>
            </a:r>
            <a:endParaRPr lang="en-US" sz="1200" dirty="0"/>
          </a:p>
        </p:txBody>
      </p:sp>
      <p:sp>
        <p:nvSpPr>
          <p:cNvPr id="14" name="text40"/>
          <p:cNvSpPr txBox="1"/>
          <p:nvPr/>
        </p:nvSpPr>
        <p:spPr>
          <a:xfrm>
            <a:off x="5577840" y="1645920"/>
            <a:ext cx="1005840" cy="475488"/>
          </a:xfrm>
          <a:prstGeom prst="rect">
            <a:avLst/>
          </a:prstGeom>
          <a:noFill/>
          <a:ln/>
        </p:spPr>
        <p:txBody>
          <a:bodyPr wrap="square" lIns="0" tIns="0" rIns="0" bIns="0" rtlCol="0" anchor="ctr"/>
          <a:lstStyle/>
          <a:p>
            <a:pPr marL="0" indent="0" algn="ctr">
              <a:buNone/>
            </a:pPr>
            <a:r>
              <a:rPr lang="en-US" sz="1300" b="1" dirty="0">
                <a:solidFill>
                  <a:schemeClr val="accent5"/>
                </a:solidFill>
              </a:rPr>
              <a:t>No</a:t>
            </a:r>
            <a:endParaRPr lang="en-US" sz="1300" dirty="0"/>
          </a:p>
        </p:txBody>
      </p:sp>
      <p:sp>
        <p:nvSpPr>
          <p:cNvPr id="15" name="text41"/>
          <p:cNvSpPr txBox="1"/>
          <p:nvPr/>
        </p:nvSpPr>
        <p:spPr>
          <a:xfrm>
            <a:off x="6629400" y="1645920"/>
            <a:ext cx="1005840" cy="475488"/>
          </a:xfrm>
          <a:prstGeom prst="rect">
            <a:avLst/>
          </a:prstGeom>
          <a:noFill/>
          <a:ln/>
        </p:spPr>
        <p:txBody>
          <a:bodyPr wrap="square" lIns="0" tIns="0" rIns="0" bIns="0" rtlCol="0" anchor="ctr"/>
          <a:lstStyle/>
          <a:p>
            <a:pPr marL="0" indent="0" algn="ctr">
              <a:buNone/>
            </a:pPr>
            <a:r>
              <a:rPr lang="en-US" sz="1300" b="1" dirty="0">
                <a:solidFill>
                  <a:schemeClr val="accent3"/>
                </a:solidFill>
              </a:rPr>
              <a:t>Yes</a:t>
            </a:r>
            <a:endParaRPr lang="en-US" sz="1300" dirty="0"/>
          </a:p>
        </p:txBody>
      </p:sp>
      <p:sp>
        <p:nvSpPr>
          <p:cNvPr id="16" name="text42"/>
          <p:cNvSpPr txBox="1"/>
          <p:nvPr/>
        </p:nvSpPr>
        <p:spPr>
          <a:xfrm>
            <a:off x="7680960" y="1645920"/>
            <a:ext cx="1005840" cy="475488"/>
          </a:xfrm>
          <a:prstGeom prst="rect">
            <a:avLst/>
          </a:prstGeom>
          <a:noFill/>
          <a:ln/>
        </p:spPr>
        <p:txBody>
          <a:bodyPr wrap="square" lIns="0" tIns="0" rIns="0" bIns="0" rtlCol="0" anchor="ctr"/>
          <a:lstStyle/>
          <a:p>
            <a:pPr marL="0" indent="0" algn="ctr">
              <a:buNone/>
            </a:pPr>
            <a:r>
              <a:rPr lang="en-US" sz="1300" b="1" dirty="0">
                <a:solidFill>
                  <a:schemeClr val="accent3"/>
                </a:solidFill>
              </a:rPr>
              <a:t>Yes</a:t>
            </a:r>
            <a:endParaRPr lang="en-US" sz="1300" dirty="0"/>
          </a:p>
        </p:txBody>
      </p:sp>
      <p:sp>
        <p:nvSpPr>
          <p:cNvPr id="17" name="card43"/>
          <p:cNvSpPr/>
          <p:nvPr/>
        </p:nvSpPr>
        <p:spPr>
          <a:xfrm>
            <a:off x="3657600" y="2212848"/>
            <a:ext cx="5029200" cy="475488"/>
          </a:xfrm>
          <a:prstGeom prst="roundRect">
            <a:avLst>
              <a:gd name="adj" fmla="val 23077"/>
            </a:avLst>
          </a:prstGeom>
          <a:solidFill>
            <a:schemeClr val="tx2"/>
          </a:solidFill>
          <a:ln w="9525">
            <a:solidFill>
              <a:schemeClr val="accent6"/>
            </a:solidFill>
            <a:prstDash val="solid"/>
          </a:ln>
        </p:spPr>
        <p:txBody>
          <a:bodyPr/>
          <a:lstStyle/>
          <a:p>
            <a:endParaRPr lang="en-US"/>
          </a:p>
        </p:txBody>
      </p:sp>
      <p:sp>
        <p:nvSpPr>
          <p:cNvPr id="18" name="text44"/>
          <p:cNvSpPr txBox="1"/>
          <p:nvPr/>
        </p:nvSpPr>
        <p:spPr>
          <a:xfrm>
            <a:off x="3840480" y="2212848"/>
            <a:ext cx="1828800" cy="475488"/>
          </a:xfrm>
          <a:prstGeom prst="rect">
            <a:avLst/>
          </a:prstGeom>
          <a:noFill/>
          <a:ln/>
        </p:spPr>
        <p:txBody>
          <a:bodyPr wrap="square" lIns="0" tIns="0" rIns="0" bIns="0" rtlCol="0" anchor="ctr"/>
          <a:lstStyle/>
          <a:p>
            <a:pPr marL="0" indent="0">
              <a:buNone/>
            </a:pPr>
            <a:r>
              <a:rPr lang="en-US" sz="1200" dirty="0">
                <a:solidFill>
                  <a:schemeClr val="bg1"/>
                </a:solidFill>
              </a:rPr>
              <a:t>Campus shown for every seller</a:t>
            </a:r>
            <a:endParaRPr lang="en-US" sz="1200" dirty="0"/>
          </a:p>
        </p:txBody>
      </p:sp>
      <p:sp>
        <p:nvSpPr>
          <p:cNvPr id="19" name="text45"/>
          <p:cNvSpPr txBox="1"/>
          <p:nvPr/>
        </p:nvSpPr>
        <p:spPr>
          <a:xfrm>
            <a:off x="5577840" y="2212848"/>
            <a:ext cx="1005840" cy="475488"/>
          </a:xfrm>
          <a:prstGeom prst="rect">
            <a:avLst/>
          </a:prstGeom>
          <a:noFill/>
          <a:ln/>
        </p:spPr>
        <p:txBody>
          <a:bodyPr wrap="square" lIns="0" tIns="0" rIns="0" bIns="0" rtlCol="0" anchor="ctr"/>
          <a:lstStyle/>
          <a:p>
            <a:pPr marL="0" indent="0" algn="ctr">
              <a:buNone/>
            </a:pPr>
            <a:r>
              <a:rPr lang="en-US" sz="1300" b="1" dirty="0">
                <a:solidFill>
                  <a:schemeClr val="accent5"/>
                </a:solidFill>
              </a:rPr>
              <a:t>No</a:t>
            </a:r>
            <a:endParaRPr lang="en-US" sz="1300" dirty="0"/>
          </a:p>
        </p:txBody>
      </p:sp>
      <p:sp>
        <p:nvSpPr>
          <p:cNvPr id="20" name="text46"/>
          <p:cNvSpPr txBox="1"/>
          <p:nvPr/>
        </p:nvSpPr>
        <p:spPr>
          <a:xfrm>
            <a:off x="6629400" y="2212848"/>
            <a:ext cx="1005840" cy="475488"/>
          </a:xfrm>
          <a:prstGeom prst="rect">
            <a:avLst/>
          </a:prstGeom>
          <a:noFill/>
          <a:ln/>
        </p:spPr>
        <p:txBody>
          <a:bodyPr wrap="square" lIns="0" tIns="0" rIns="0" bIns="0" rtlCol="0" anchor="ctr"/>
          <a:lstStyle/>
          <a:p>
            <a:pPr marL="0" indent="0" algn="ctr">
              <a:buNone/>
            </a:pPr>
            <a:r>
              <a:rPr lang="en-US" sz="1300" b="1" dirty="0">
                <a:solidFill>
                  <a:schemeClr val="accent5"/>
                </a:solidFill>
              </a:rPr>
              <a:t>No</a:t>
            </a:r>
            <a:endParaRPr lang="en-US" sz="1300" dirty="0"/>
          </a:p>
        </p:txBody>
      </p:sp>
      <p:sp>
        <p:nvSpPr>
          <p:cNvPr id="21" name="text47"/>
          <p:cNvSpPr txBox="1"/>
          <p:nvPr/>
        </p:nvSpPr>
        <p:spPr>
          <a:xfrm>
            <a:off x="7680960" y="2212848"/>
            <a:ext cx="1005840" cy="475488"/>
          </a:xfrm>
          <a:prstGeom prst="rect">
            <a:avLst/>
          </a:prstGeom>
          <a:noFill/>
          <a:ln/>
        </p:spPr>
        <p:txBody>
          <a:bodyPr wrap="square" lIns="0" tIns="0" rIns="0" bIns="0" rtlCol="0" anchor="ctr"/>
          <a:lstStyle/>
          <a:p>
            <a:pPr marL="0" indent="0" algn="ctr">
              <a:buNone/>
            </a:pPr>
            <a:r>
              <a:rPr lang="en-US" sz="1300" b="1" dirty="0">
                <a:solidFill>
                  <a:schemeClr val="accent3"/>
                </a:solidFill>
              </a:rPr>
              <a:t>Yes</a:t>
            </a:r>
            <a:endParaRPr lang="en-US" sz="1300" dirty="0"/>
          </a:p>
        </p:txBody>
      </p:sp>
      <p:sp>
        <p:nvSpPr>
          <p:cNvPr id="22" name="card48"/>
          <p:cNvSpPr/>
          <p:nvPr/>
        </p:nvSpPr>
        <p:spPr>
          <a:xfrm>
            <a:off x="3657600" y="2779776"/>
            <a:ext cx="5029200" cy="475488"/>
          </a:xfrm>
          <a:prstGeom prst="roundRect">
            <a:avLst>
              <a:gd name="adj" fmla="val 23077"/>
            </a:avLst>
          </a:prstGeom>
          <a:solidFill>
            <a:schemeClr val="tx2"/>
          </a:solidFill>
          <a:ln w="9525">
            <a:solidFill>
              <a:schemeClr val="accent6"/>
            </a:solidFill>
            <a:prstDash val="solid"/>
          </a:ln>
        </p:spPr>
        <p:txBody>
          <a:bodyPr/>
          <a:lstStyle/>
          <a:p>
            <a:endParaRPr lang="en-US"/>
          </a:p>
        </p:txBody>
      </p:sp>
      <p:sp>
        <p:nvSpPr>
          <p:cNvPr id="23" name="text49"/>
          <p:cNvSpPr txBox="1"/>
          <p:nvPr/>
        </p:nvSpPr>
        <p:spPr>
          <a:xfrm>
            <a:off x="3840480" y="2779776"/>
            <a:ext cx="1828800" cy="475488"/>
          </a:xfrm>
          <a:prstGeom prst="rect">
            <a:avLst/>
          </a:prstGeom>
          <a:noFill/>
          <a:ln/>
        </p:spPr>
        <p:txBody>
          <a:bodyPr wrap="square" lIns="0" tIns="0" rIns="0" bIns="0" rtlCol="0" anchor="ctr"/>
          <a:lstStyle/>
          <a:p>
            <a:pPr marL="0" indent="0">
              <a:buNone/>
            </a:pPr>
            <a:r>
              <a:rPr lang="en-US" sz="1200" dirty="0">
                <a:solidFill>
                  <a:schemeClr val="bg1"/>
                </a:solidFill>
              </a:rPr>
              <a:t>Focused on second-hand trading</a:t>
            </a:r>
            <a:endParaRPr lang="en-US" sz="1200" dirty="0"/>
          </a:p>
        </p:txBody>
      </p:sp>
      <p:sp>
        <p:nvSpPr>
          <p:cNvPr id="24" name="text50"/>
          <p:cNvSpPr txBox="1"/>
          <p:nvPr/>
        </p:nvSpPr>
        <p:spPr>
          <a:xfrm>
            <a:off x="5577840" y="2779776"/>
            <a:ext cx="1005840" cy="475488"/>
          </a:xfrm>
          <a:prstGeom prst="rect">
            <a:avLst/>
          </a:prstGeom>
          <a:noFill/>
          <a:ln/>
        </p:spPr>
        <p:txBody>
          <a:bodyPr wrap="square" lIns="0" tIns="0" rIns="0" bIns="0" rtlCol="0" anchor="ctr"/>
          <a:lstStyle/>
          <a:p>
            <a:pPr marL="0" indent="0" algn="ctr">
              <a:buNone/>
            </a:pPr>
            <a:r>
              <a:rPr lang="en-US" sz="1300" b="1" dirty="0">
                <a:solidFill>
                  <a:schemeClr val="accent3"/>
                </a:solidFill>
              </a:rPr>
              <a:t>Yes</a:t>
            </a:r>
            <a:endParaRPr lang="en-US" sz="1300" dirty="0"/>
          </a:p>
        </p:txBody>
      </p:sp>
      <p:sp>
        <p:nvSpPr>
          <p:cNvPr id="25" name="text51"/>
          <p:cNvSpPr txBox="1"/>
          <p:nvPr/>
        </p:nvSpPr>
        <p:spPr>
          <a:xfrm>
            <a:off x="6629400" y="2779776"/>
            <a:ext cx="1005840" cy="475488"/>
          </a:xfrm>
          <a:prstGeom prst="rect">
            <a:avLst/>
          </a:prstGeom>
          <a:noFill/>
          <a:ln/>
        </p:spPr>
        <p:txBody>
          <a:bodyPr wrap="square" lIns="0" tIns="0" rIns="0" bIns="0" rtlCol="0" anchor="ctr"/>
          <a:lstStyle/>
          <a:p>
            <a:pPr marL="0" indent="0" algn="ctr">
              <a:buNone/>
            </a:pPr>
            <a:r>
              <a:rPr lang="en-US" sz="1300" b="1" dirty="0">
                <a:solidFill>
                  <a:schemeClr val="accent2"/>
                </a:solidFill>
              </a:rPr>
              <a:t>Partly</a:t>
            </a:r>
            <a:endParaRPr lang="en-US" sz="1300" dirty="0"/>
          </a:p>
        </p:txBody>
      </p:sp>
      <p:sp>
        <p:nvSpPr>
          <p:cNvPr id="26" name="text52"/>
          <p:cNvSpPr txBox="1"/>
          <p:nvPr/>
        </p:nvSpPr>
        <p:spPr>
          <a:xfrm>
            <a:off x="7680960" y="2779776"/>
            <a:ext cx="1005840" cy="475488"/>
          </a:xfrm>
          <a:prstGeom prst="rect">
            <a:avLst/>
          </a:prstGeom>
          <a:noFill/>
          <a:ln/>
        </p:spPr>
        <p:txBody>
          <a:bodyPr wrap="square" lIns="0" tIns="0" rIns="0" bIns="0" rtlCol="0" anchor="ctr"/>
          <a:lstStyle/>
          <a:p>
            <a:pPr marL="0" indent="0" algn="ctr">
              <a:buNone/>
            </a:pPr>
            <a:r>
              <a:rPr lang="en-US" sz="1300" b="1" dirty="0">
                <a:solidFill>
                  <a:schemeClr val="accent3"/>
                </a:solidFill>
              </a:rPr>
              <a:t>Yes</a:t>
            </a:r>
            <a:endParaRPr lang="en-US" sz="1300" dirty="0"/>
          </a:p>
        </p:txBody>
      </p:sp>
      <p:sp>
        <p:nvSpPr>
          <p:cNvPr id="27" name="text53"/>
          <p:cNvSpPr txBox="1"/>
          <p:nvPr/>
        </p:nvSpPr>
        <p:spPr>
          <a:xfrm>
            <a:off x="3657600" y="3346704"/>
            <a:ext cx="5029200" cy="201168"/>
          </a:xfrm>
          <a:prstGeom prst="rect">
            <a:avLst/>
          </a:prstGeom>
          <a:noFill/>
          <a:ln/>
        </p:spPr>
        <p:txBody>
          <a:bodyPr wrap="square" lIns="0" tIns="0" rIns="0" bIns="0" rtlCol="0" anchor="t"/>
          <a:lstStyle/>
          <a:p>
            <a:pPr marL="0" indent="0">
              <a:buNone/>
            </a:pPr>
            <a:r>
              <a:rPr lang="en-US" sz="1000" dirty="0">
                <a:solidFill>
                  <a:schemeClr val="bg2"/>
                </a:solidFill>
              </a:rPr>
              <a:t>General marketplaces: Gumtree, Facebook Marketplace</a:t>
            </a:r>
            <a:endParaRPr lang="en-US" sz="1000" dirty="0"/>
          </a:p>
        </p:txBody>
      </p:sp>
      <p:sp>
        <p:nvSpPr>
          <p:cNvPr id="28" name="card54"/>
          <p:cNvSpPr/>
          <p:nvPr/>
        </p:nvSpPr>
        <p:spPr>
          <a:xfrm>
            <a:off x="3657600" y="3639312"/>
            <a:ext cx="5029200" cy="886968"/>
          </a:xfrm>
          <a:prstGeom prst="roundRect">
            <a:avLst>
              <a:gd name="adj" fmla="val 12371"/>
            </a:avLst>
          </a:prstGeom>
          <a:solidFill>
            <a:schemeClr val="tx2"/>
          </a:solidFill>
          <a:ln w="9525">
            <a:solidFill>
              <a:schemeClr val="accent6"/>
            </a:solidFill>
            <a:prstDash val="solid"/>
          </a:ln>
        </p:spPr>
        <p:txBody>
          <a:bodyPr/>
          <a:lstStyle/>
          <a:p>
            <a:endParaRPr lang="en-US"/>
          </a:p>
        </p:txBody>
      </p:sp>
      <p:sp>
        <p:nvSpPr>
          <p:cNvPr id="29" name="text55"/>
          <p:cNvSpPr txBox="1"/>
          <p:nvPr/>
        </p:nvSpPr>
        <p:spPr>
          <a:xfrm>
            <a:off x="3840480" y="3639312"/>
            <a:ext cx="4663440" cy="886968"/>
          </a:xfrm>
          <a:prstGeom prst="rect">
            <a:avLst/>
          </a:prstGeom>
          <a:noFill/>
          <a:ln/>
        </p:spPr>
        <p:txBody>
          <a:bodyPr wrap="square" lIns="0" tIns="0" rIns="0" bIns="0" rtlCol="0" anchor="ctr"/>
          <a:lstStyle/>
          <a:p>
            <a:pPr marL="0" indent="0">
              <a:buNone/>
            </a:pPr>
            <a:r>
              <a:rPr lang="en-US" sz="1100" b="1" dirty="0">
                <a:solidFill>
                  <a:schemeClr val="accent1"/>
                </a:solidFill>
              </a:rPr>
              <a:t>StudySwap: </a:t>
            </a:r>
            <a:r>
              <a:rPr lang="en-US" sz="1100" dirty="0">
                <a:solidFill>
                  <a:schemeClr val="bg1"/>
                </a:solidFill>
              </a:rPr>
              <a:t>student-oriented accounts, campus field, simple meetup-friendly listings</a:t>
            </a:r>
            <a:endParaRPr lang="en-US" sz="1100" dirty="0"/>
          </a:p>
          <a:p>
            <a:pPr marL="0" indent="0">
              <a:buNone/>
            </a:pPr>
            <a:r>
              <a:rPr lang="en-US" sz="1100" b="1" dirty="0">
                <a:solidFill>
                  <a:schemeClr val="accent2"/>
                </a:solidFill>
              </a:rPr>
              <a:t>Trend: </a:t>
            </a:r>
            <a:r>
              <a:rPr lang="en-US" sz="1100" dirty="0">
                <a:solidFill>
                  <a:schemeClr val="bg1"/>
                </a:solidFill>
              </a:rPr>
              <a:t>hybrid mobile + cloud API; camera for listing photos; online API (Render)</a:t>
            </a:r>
            <a:endParaRPr lang="en-US" sz="1100" dirty="0"/>
          </a:p>
        </p:txBody>
      </p:sp>
      <p:sp>
        <p:nvSpPr>
          <p:cNvPr id="30"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High-level user requirements</a:t>
            </a:r>
            <a:endParaRPr lang="en-US" sz="3000" dirty="0"/>
          </a:p>
        </p:txBody>
      </p:sp>
      <p:sp>
        <p:nvSpPr>
          <p:cNvPr id="3" name="text56"/>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From user stories (docs/user-stories.md)</a:t>
            </a:r>
            <a:endParaRPr lang="en-US" sz="1400" dirty="0"/>
          </a:p>
        </p:txBody>
      </p:sp>
      <p:sp>
        <p:nvSpPr>
          <p:cNvPr id="4" name="card57"/>
          <p:cNvSpPr/>
          <p:nvPr/>
        </p:nvSpPr>
        <p:spPr>
          <a:xfrm>
            <a:off x="457200" y="1143000"/>
            <a:ext cx="2624328" cy="3383280"/>
          </a:xfrm>
          <a:prstGeom prst="roundRect">
            <a:avLst>
              <a:gd name="adj" fmla="val 4181"/>
            </a:avLst>
          </a:prstGeom>
          <a:solidFill>
            <a:schemeClr val="tx2"/>
          </a:solidFill>
          <a:ln w="9525">
            <a:solidFill>
              <a:schemeClr val="accent6"/>
            </a:solidFill>
            <a:prstDash val="solid"/>
          </a:ln>
        </p:spPr>
        <p:txBody>
          <a:bodyPr/>
          <a:lstStyle/>
          <a:p>
            <a:endParaRPr lang="en-US"/>
          </a:p>
        </p:txBody>
      </p:sp>
      <p:sp>
        <p:nvSpPr>
          <p:cNvPr id="5" name="text58"/>
          <p:cNvSpPr txBox="1"/>
          <p:nvPr/>
        </p:nvSpPr>
        <p:spPr>
          <a:xfrm>
            <a:off x="658368" y="1325880"/>
            <a:ext cx="2240280" cy="320040"/>
          </a:xfrm>
          <a:prstGeom prst="rect">
            <a:avLst/>
          </a:prstGeom>
          <a:noFill/>
          <a:ln/>
        </p:spPr>
        <p:txBody>
          <a:bodyPr wrap="square" lIns="0" tIns="0" rIns="0" bIns="0" rtlCol="0" anchor="t"/>
          <a:lstStyle/>
          <a:p>
            <a:pPr marL="0" indent="0">
              <a:buNone/>
            </a:pPr>
            <a:r>
              <a:rPr lang="en-US" sz="1800" b="1" dirty="0">
                <a:solidFill>
                  <a:schemeClr val="accent1"/>
                </a:solidFill>
              </a:rPr>
              <a:t>Account and access</a:t>
            </a:r>
            <a:endParaRPr lang="en-US" sz="1800" dirty="0"/>
          </a:p>
        </p:txBody>
      </p:sp>
      <p:sp>
        <p:nvSpPr>
          <p:cNvPr id="6" name="text59"/>
          <p:cNvSpPr txBox="1"/>
          <p:nvPr/>
        </p:nvSpPr>
        <p:spPr>
          <a:xfrm>
            <a:off x="658368" y="1783080"/>
            <a:ext cx="2240280" cy="21031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bg1"/>
                </a:solidFill>
              </a:rPr>
              <a:t>Sign up with name, email, password and campus</a:t>
            </a:r>
            <a:endParaRPr lang="en-US" sz="1300" dirty="0"/>
          </a:p>
          <a:p>
            <a:pPr marL="342900" indent="-342900">
              <a:spcAft>
                <a:spcPts val="600"/>
              </a:spcAft>
              <a:buSzPct val="100000"/>
              <a:buChar char="•"/>
            </a:pPr>
            <a:r>
              <a:rPr lang="en-US" sz="1300" dirty="0">
                <a:solidFill>
                  <a:schemeClr val="bg1"/>
                </a:solidFill>
              </a:rPr>
              <a:t>Log in to reach my account and listings</a:t>
            </a:r>
            <a:endParaRPr lang="en-US" sz="1300" dirty="0"/>
          </a:p>
          <a:p>
            <a:pPr marL="342900" indent="-342900">
              <a:spcAft>
                <a:spcPts val="600"/>
              </a:spcAft>
              <a:buSzPct val="100000"/>
              <a:buChar char="•"/>
            </a:pPr>
            <a:r>
              <a:rPr lang="en-US" sz="1300" dirty="0">
                <a:solidFill>
                  <a:schemeClr val="bg1"/>
                </a:solidFill>
              </a:rPr>
              <a:t>Log out so nobody else can use my account</a:t>
            </a:r>
            <a:endParaRPr lang="en-US" sz="1300" dirty="0"/>
          </a:p>
        </p:txBody>
      </p:sp>
      <p:sp>
        <p:nvSpPr>
          <p:cNvPr id="7" name="pill60"/>
          <p:cNvSpPr txBox="1"/>
          <p:nvPr/>
        </p:nvSpPr>
        <p:spPr>
          <a:xfrm>
            <a:off x="658368" y="4069080"/>
            <a:ext cx="2221992"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1"/>
                </a:solidFill>
              </a:rPr>
              <a:t>POST</a:t>
            </a:r>
            <a:endParaRPr lang="en-US" sz="1000" dirty="0"/>
          </a:p>
        </p:txBody>
      </p:sp>
      <p:sp>
        <p:nvSpPr>
          <p:cNvPr id="8" name="card61"/>
          <p:cNvSpPr/>
          <p:nvPr/>
        </p:nvSpPr>
        <p:spPr>
          <a:xfrm>
            <a:off x="3264408" y="1143000"/>
            <a:ext cx="2624328" cy="3383280"/>
          </a:xfrm>
          <a:prstGeom prst="roundRect">
            <a:avLst>
              <a:gd name="adj" fmla="val 4181"/>
            </a:avLst>
          </a:prstGeom>
          <a:solidFill>
            <a:schemeClr val="tx2"/>
          </a:solidFill>
          <a:ln w="9525">
            <a:solidFill>
              <a:schemeClr val="accent6"/>
            </a:solidFill>
            <a:prstDash val="solid"/>
          </a:ln>
        </p:spPr>
        <p:txBody>
          <a:bodyPr/>
          <a:lstStyle/>
          <a:p>
            <a:endParaRPr lang="en-US"/>
          </a:p>
        </p:txBody>
      </p:sp>
      <p:sp>
        <p:nvSpPr>
          <p:cNvPr id="9" name="text62"/>
          <p:cNvSpPr txBox="1"/>
          <p:nvPr/>
        </p:nvSpPr>
        <p:spPr>
          <a:xfrm>
            <a:off x="3465576" y="1325880"/>
            <a:ext cx="2240280" cy="320040"/>
          </a:xfrm>
          <a:prstGeom prst="rect">
            <a:avLst/>
          </a:prstGeom>
          <a:noFill/>
          <a:ln/>
        </p:spPr>
        <p:txBody>
          <a:bodyPr wrap="square" lIns="0" tIns="0" rIns="0" bIns="0" rtlCol="0" anchor="t"/>
          <a:lstStyle/>
          <a:p>
            <a:pPr marL="0" indent="0">
              <a:buNone/>
            </a:pPr>
            <a:r>
              <a:rPr lang="en-US" sz="1800" b="1" dirty="0">
                <a:solidFill>
                  <a:schemeClr val="accent2"/>
                </a:solidFill>
              </a:rPr>
              <a:t>Listings</a:t>
            </a:r>
            <a:endParaRPr lang="en-US" sz="1800" dirty="0"/>
          </a:p>
        </p:txBody>
      </p:sp>
      <p:sp>
        <p:nvSpPr>
          <p:cNvPr id="10" name="text63"/>
          <p:cNvSpPr txBox="1"/>
          <p:nvPr/>
        </p:nvSpPr>
        <p:spPr>
          <a:xfrm>
            <a:off x="3465576" y="1783080"/>
            <a:ext cx="2240280" cy="21031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bg1"/>
                </a:solidFill>
              </a:rPr>
              <a:t>Browse, search and filter active listings</a:t>
            </a:r>
            <a:endParaRPr lang="en-US" sz="1300" dirty="0"/>
          </a:p>
          <a:p>
            <a:pPr marL="342900" indent="-342900">
              <a:spcAft>
                <a:spcPts val="600"/>
              </a:spcAft>
              <a:buSzPct val="100000"/>
              <a:buChar char="•"/>
            </a:pPr>
            <a:r>
              <a:rPr lang="en-US" sz="1300" dirty="0">
                <a:solidFill>
                  <a:schemeClr val="bg1"/>
                </a:solidFill>
              </a:rPr>
              <a:t>Open a listing to see full details and seller</a:t>
            </a:r>
            <a:endParaRPr lang="en-US" sz="1300" dirty="0"/>
          </a:p>
          <a:p>
            <a:pPr marL="342900" indent="-342900">
              <a:spcAft>
                <a:spcPts val="600"/>
              </a:spcAft>
              <a:buSzPct val="100000"/>
              <a:buChar char="•"/>
            </a:pPr>
            <a:r>
              <a:rPr lang="en-US" sz="1300" dirty="0">
                <a:solidFill>
                  <a:schemeClr val="bg1"/>
                </a:solidFill>
              </a:rPr>
              <a:t>Post an item with price, category and photo</a:t>
            </a:r>
            <a:endParaRPr lang="en-US" sz="1300" dirty="0"/>
          </a:p>
          <a:p>
            <a:pPr marL="342900" indent="-342900">
              <a:spcAft>
                <a:spcPts val="600"/>
              </a:spcAft>
              <a:buSzPct val="100000"/>
              <a:buChar char="•"/>
            </a:pPr>
            <a:r>
              <a:rPr lang="en-US" sz="1300" dirty="0">
                <a:solidFill>
                  <a:schemeClr val="bg1"/>
                </a:solidFill>
              </a:rPr>
              <a:t>Edit, mark as sold or delete my own listing</a:t>
            </a:r>
            <a:endParaRPr lang="en-US" sz="1300" dirty="0"/>
          </a:p>
        </p:txBody>
      </p:sp>
      <p:sp>
        <p:nvSpPr>
          <p:cNvPr id="11" name="pill64"/>
          <p:cNvSpPr txBox="1"/>
          <p:nvPr/>
        </p:nvSpPr>
        <p:spPr>
          <a:xfrm>
            <a:off x="3465576" y="4069080"/>
            <a:ext cx="2221992"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2"/>
                </a:solidFill>
              </a:rPr>
              <a:t>GET · POST · PUT · DELETE</a:t>
            </a:r>
            <a:endParaRPr lang="en-US" sz="1000" dirty="0"/>
          </a:p>
        </p:txBody>
      </p:sp>
      <p:sp>
        <p:nvSpPr>
          <p:cNvPr id="12" name="card65"/>
          <p:cNvSpPr/>
          <p:nvPr/>
        </p:nvSpPr>
        <p:spPr>
          <a:xfrm>
            <a:off x="6071616" y="1143000"/>
            <a:ext cx="2624328" cy="3383280"/>
          </a:xfrm>
          <a:prstGeom prst="roundRect">
            <a:avLst>
              <a:gd name="adj" fmla="val 4181"/>
            </a:avLst>
          </a:prstGeom>
          <a:solidFill>
            <a:schemeClr val="tx2"/>
          </a:solidFill>
          <a:ln w="9525">
            <a:solidFill>
              <a:schemeClr val="accent6"/>
            </a:solidFill>
            <a:prstDash val="solid"/>
          </a:ln>
        </p:spPr>
        <p:txBody>
          <a:bodyPr/>
          <a:lstStyle/>
          <a:p>
            <a:endParaRPr lang="en-US"/>
          </a:p>
        </p:txBody>
      </p:sp>
      <p:sp>
        <p:nvSpPr>
          <p:cNvPr id="13" name="text66"/>
          <p:cNvSpPr txBox="1"/>
          <p:nvPr/>
        </p:nvSpPr>
        <p:spPr>
          <a:xfrm>
            <a:off x="6272784" y="1325880"/>
            <a:ext cx="2240280" cy="320040"/>
          </a:xfrm>
          <a:prstGeom prst="rect">
            <a:avLst/>
          </a:prstGeom>
          <a:noFill/>
          <a:ln/>
        </p:spPr>
        <p:txBody>
          <a:bodyPr wrap="square" lIns="0" tIns="0" rIns="0" bIns="0" rtlCol="0" anchor="t"/>
          <a:lstStyle/>
          <a:p>
            <a:pPr marL="0" indent="0">
              <a:buNone/>
            </a:pPr>
            <a:r>
              <a:rPr lang="en-US" sz="1800" b="1" dirty="0">
                <a:solidFill>
                  <a:schemeClr val="accent3"/>
                </a:solidFill>
              </a:rPr>
              <a:t>Profile</a:t>
            </a:r>
            <a:endParaRPr lang="en-US" sz="1800" dirty="0"/>
          </a:p>
        </p:txBody>
      </p:sp>
      <p:sp>
        <p:nvSpPr>
          <p:cNvPr id="14" name="text67"/>
          <p:cNvSpPr txBox="1"/>
          <p:nvPr/>
        </p:nvSpPr>
        <p:spPr>
          <a:xfrm>
            <a:off x="6272784" y="1783080"/>
            <a:ext cx="2240280" cy="21031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bg1"/>
                </a:solidFill>
              </a:rPr>
              <a:t>See my name, email and campus</a:t>
            </a:r>
            <a:endParaRPr lang="en-US" sz="1300" dirty="0"/>
          </a:p>
          <a:p>
            <a:pPr marL="342900" indent="-342900">
              <a:spcAft>
                <a:spcPts val="600"/>
              </a:spcAft>
              <a:buSzPct val="100000"/>
              <a:buChar char="•"/>
            </a:pPr>
            <a:r>
              <a:rPr lang="en-US" sz="1300" dirty="0">
                <a:solidFill>
                  <a:schemeClr val="bg1"/>
                </a:solidFill>
              </a:rPr>
              <a:t>See and manage all of my own listings</a:t>
            </a:r>
            <a:endParaRPr lang="en-US" sz="1300" dirty="0"/>
          </a:p>
        </p:txBody>
      </p:sp>
      <p:sp>
        <p:nvSpPr>
          <p:cNvPr id="15" name="pill68"/>
          <p:cNvSpPr txBox="1"/>
          <p:nvPr/>
        </p:nvSpPr>
        <p:spPr>
          <a:xfrm>
            <a:off x="6272784" y="4069080"/>
            <a:ext cx="2221992"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3"/>
                </a:solidFill>
              </a:rPr>
              <a:t>GET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Software architecture</a:t>
            </a:r>
            <a:endParaRPr lang="en-US" sz="3000" dirty="0"/>
          </a:p>
        </p:txBody>
      </p:sp>
      <p:sp>
        <p:nvSpPr>
          <p:cNvPr id="3" name="text69"/>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Three-tier mobile hybrid app</a:t>
            </a:r>
            <a:endParaRPr lang="en-US" sz="1400" dirty="0"/>
          </a:p>
        </p:txBody>
      </p:sp>
      <p:sp>
        <p:nvSpPr>
          <p:cNvPr id="4" name="card70"/>
          <p:cNvSpPr/>
          <p:nvPr/>
        </p:nvSpPr>
        <p:spPr>
          <a:xfrm>
            <a:off x="457200" y="1143000"/>
            <a:ext cx="2377440" cy="3383280"/>
          </a:xfrm>
          <a:prstGeom prst="roundRect">
            <a:avLst>
              <a:gd name="adj" fmla="val 4615"/>
            </a:avLst>
          </a:prstGeom>
          <a:solidFill>
            <a:schemeClr val="tx2"/>
          </a:solidFill>
          <a:ln w="9525">
            <a:solidFill>
              <a:schemeClr val="accent6"/>
            </a:solidFill>
            <a:prstDash val="solid"/>
          </a:ln>
        </p:spPr>
        <p:txBody>
          <a:bodyPr/>
          <a:lstStyle/>
          <a:p>
            <a:endParaRPr lang="en-US"/>
          </a:p>
        </p:txBody>
      </p:sp>
      <p:sp>
        <p:nvSpPr>
          <p:cNvPr id="5" name="pill71"/>
          <p:cNvSpPr txBox="1"/>
          <p:nvPr/>
        </p:nvSpPr>
        <p:spPr>
          <a:xfrm>
            <a:off x="640080" y="1325880"/>
            <a:ext cx="109728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1"/>
                </a:solidFill>
              </a:rPr>
              <a:t>CLIENT</a:t>
            </a:r>
            <a:endParaRPr lang="en-US" sz="1000" dirty="0"/>
          </a:p>
        </p:txBody>
      </p:sp>
      <p:sp>
        <p:nvSpPr>
          <p:cNvPr id="6" name="text72"/>
          <p:cNvSpPr txBox="1"/>
          <p:nvPr/>
        </p:nvSpPr>
        <p:spPr>
          <a:xfrm>
            <a:off x="640080" y="1691640"/>
            <a:ext cx="2011680" cy="365760"/>
          </a:xfrm>
          <a:prstGeom prst="rect">
            <a:avLst/>
          </a:prstGeom>
          <a:noFill/>
          <a:ln/>
        </p:spPr>
        <p:txBody>
          <a:bodyPr wrap="square" lIns="0" tIns="0" rIns="0" bIns="0" rtlCol="0" anchor="t"/>
          <a:lstStyle/>
          <a:p>
            <a:pPr marL="0" indent="0">
              <a:buNone/>
            </a:pPr>
            <a:r>
              <a:rPr lang="en-US" sz="1700" b="1" dirty="0">
                <a:solidFill>
                  <a:schemeClr val="accent1"/>
                </a:solidFill>
              </a:rPr>
              <a:t>Cordova hybrid app</a:t>
            </a:r>
            <a:endParaRPr lang="en-US" sz="1700" dirty="0"/>
          </a:p>
        </p:txBody>
      </p:sp>
      <p:sp>
        <p:nvSpPr>
          <p:cNvPr id="7" name="text73"/>
          <p:cNvSpPr txBox="1"/>
          <p:nvPr/>
        </p:nvSpPr>
        <p:spPr>
          <a:xfrm>
            <a:off x="640080" y="2194560"/>
            <a:ext cx="2057400" cy="21945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bg1"/>
                </a:solidFill>
              </a:rPr>
              <a:t>jQuery Mobile, HTML5, CSS, JavaScript</a:t>
            </a:r>
            <a:endParaRPr lang="en-US" sz="1200" dirty="0"/>
          </a:p>
          <a:p>
            <a:pPr marL="342900" indent="-342900">
              <a:spcAft>
                <a:spcPts val="600"/>
              </a:spcAft>
              <a:buSzPct val="100000"/>
              <a:buChar char="•"/>
            </a:pPr>
            <a:r>
              <a:rPr lang="en-US" sz="1200" dirty="0">
                <a:solidFill>
                  <a:schemeClr val="bg1"/>
                </a:solidFill>
              </a:rPr>
              <a:t>Pages: login, sign up, browse, detail, form, profile</a:t>
            </a:r>
            <a:endParaRPr lang="en-US" sz="1200" dirty="0"/>
          </a:p>
          <a:p>
            <a:pPr marL="342900" indent="-342900">
              <a:spcAft>
                <a:spcPts val="600"/>
              </a:spcAft>
              <a:buSzPct val="100000"/>
              <a:buChar char="•"/>
            </a:pPr>
            <a:r>
              <a:rPr lang="en-US" sz="1200" dirty="0">
                <a:solidFill>
                  <a:schemeClr val="bg1"/>
                </a:solidFill>
              </a:rPr>
              <a:t>Camera plugin for listing photos</a:t>
            </a:r>
            <a:endParaRPr lang="en-US" sz="1200" dirty="0"/>
          </a:p>
          <a:p>
            <a:pPr marL="342900" indent="-342900">
              <a:spcAft>
                <a:spcPts val="600"/>
              </a:spcAft>
              <a:buSzPct val="100000"/>
              <a:buChar char="•"/>
            </a:pPr>
            <a:r>
              <a:rPr lang="en-US" sz="1200" dirty="0">
                <a:solidFill>
                  <a:schemeClr val="bg1"/>
                </a:solidFill>
              </a:rPr>
              <a:t>Runs on Android device, emulator or browser</a:t>
            </a:r>
            <a:endParaRPr lang="en-US" sz="1200" dirty="0"/>
          </a:p>
        </p:txBody>
      </p:sp>
      <p:sp>
        <p:nvSpPr>
          <p:cNvPr id="8" name="arrow0"/>
          <p:cNvSpPr/>
          <p:nvPr/>
        </p:nvSpPr>
        <p:spPr>
          <a:xfrm>
            <a:off x="2907792" y="2514600"/>
            <a:ext cx="402336" cy="274320"/>
          </a:xfrm>
          <a:prstGeom prst="rightArrow">
            <a:avLst/>
          </a:prstGeom>
          <a:solidFill>
            <a:schemeClr val="bg2"/>
          </a:solidFill>
          <a:ln/>
        </p:spPr>
        <p:txBody>
          <a:bodyPr/>
          <a:lstStyle/>
          <a:p>
            <a:endParaRPr lang="en-US"/>
          </a:p>
        </p:txBody>
      </p:sp>
      <p:sp>
        <p:nvSpPr>
          <p:cNvPr id="9" name="text74"/>
          <p:cNvSpPr txBox="1"/>
          <p:nvPr/>
        </p:nvSpPr>
        <p:spPr>
          <a:xfrm>
            <a:off x="2834640" y="2834640"/>
            <a:ext cx="548640" cy="365760"/>
          </a:xfrm>
          <a:prstGeom prst="rect">
            <a:avLst/>
          </a:prstGeom>
          <a:noFill/>
          <a:ln/>
        </p:spPr>
        <p:txBody>
          <a:bodyPr wrap="square" lIns="0" tIns="0" rIns="0" bIns="0" rtlCol="0" anchor="t"/>
          <a:lstStyle/>
          <a:p>
            <a:pPr marL="0" indent="0" algn="ctr">
              <a:buNone/>
            </a:pPr>
            <a:r>
              <a:rPr lang="en-US" sz="800" dirty="0">
                <a:solidFill>
                  <a:schemeClr val="bg2"/>
                </a:solidFill>
              </a:rPr>
              <a:t>HTTPS</a:t>
            </a:r>
            <a:endParaRPr lang="en-US" sz="800" dirty="0"/>
          </a:p>
          <a:p>
            <a:pPr marL="0" indent="0" algn="ctr">
              <a:buNone/>
            </a:pPr>
            <a:r>
              <a:rPr lang="en-US" sz="800" dirty="0">
                <a:solidFill>
                  <a:schemeClr val="bg2"/>
                </a:solidFill>
              </a:rPr>
              <a:t>JSON + JWT</a:t>
            </a:r>
            <a:endParaRPr lang="en-US" sz="800" dirty="0"/>
          </a:p>
        </p:txBody>
      </p:sp>
      <p:sp>
        <p:nvSpPr>
          <p:cNvPr id="10" name="card75"/>
          <p:cNvSpPr/>
          <p:nvPr/>
        </p:nvSpPr>
        <p:spPr>
          <a:xfrm>
            <a:off x="3383280" y="1143000"/>
            <a:ext cx="2377440" cy="3383280"/>
          </a:xfrm>
          <a:prstGeom prst="roundRect">
            <a:avLst>
              <a:gd name="adj" fmla="val 4615"/>
            </a:avLst>
          </a:prstGeom>
          <a:solidFill>
            <a:schemeClr val="tx2"/>
          </a:solidFill>
          <a:ln w="9525">
            <a:solidFill>
              <a:schemeClr val="accent6"/>
            </a:solidFill>
            <a:prstDash val="solid"/>
          </a:ln>
        </p:spPr>
        <p:txBody>
          <a:bodyPr/>
          <a:lstStyle/>
          <a:p>
            <a:endParaRPr lang="en-US"/>
          </a:p>
        </p:txBody>
      </p:sp>
      <p:sp>
        <p:nvSpPr>
          <p:cNvPr id="11" name="pill76"/>
          <p:cNvSpPr txBox="1"/>
          <p:nvPr/>
        </p:nvSpPr>
        <p:spPr>
          <a:xfrm>
            <a:off x="3566160" y="1325880"/>
            <a:ext cx="109728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2"/>
                </a:solidFill>
              </a:rPr>
              <a:t>SERVER</a:t>
            </a:r>
            <a:endParaRPr lang="en-US" sz="1000" dirty="0"/>
          </a:p>
        </p:txBody>
      </p:sp>
      <p:sp>
        <p:nvSpPr>
          <p:cNvPr id="12" name="text77"/>
          <p:cNvSpPr txBox="1"/>
          <p:nvPr/>
        </p:nvSpPr>
        <p:spPr>
          <a:xfrm>
            <a:off x="3566160" y="1691640"/>
            <a:ext cx="2011680" cy="365760"/>
          </a:xfrm>
          <a:prstGeom prst="rect">
            <a:avLst/>
          </a:prstGeom>
          <a:noFill/>
          <a:ln/>
        </p:spPr>
        <p:txBody>
          <a:bodyPr wrap="square" lIns="0" tIns="0" rIns="0" bIns="0" rtlCol="0" anchor="t"/>
          <a:lstStyle/>
          <a:p>
            <a:pPr marL="0" indent="0">
              <a:buNone/>
            </a:pPr>
            <a:r>
              <a:rPr lang="en-US" sz="1700" b="1" dirty="0">
                <a:solidFill>
                  <a:schemeClr val="accent2"/>
                </a:solidFill>
              </a:rPr>
              <a:t>Express API on Render</a:t>
            </a:r>
            <a:endParaRPr lang="en-US" sz="1700" dirty="0"/>
          </a:p>
        </p:txBody>
      </p:sp>
      <p:sp>
        <p:nvSpPr>
          <p:cNvPr id="13" name="text78"/>
          <p:cNvSpPr txBox="1"/>
          <p:nvPr/>
        </p:nvSpPr>
        <p:spPr>
          <a:xfrm>
            <a:off x="3566160" y="2194560"/>
            <a:ext cx="2057400" cy="21945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bg1"/>
                </a:solidFill>
              </a:rPr>
              <a:t>Node.js with Express Routers per resource</a:t>
            </a:r>
            <a:endParaRPr lang="en-US" sz="1200" dirty="0"/>
          </a:p>
          <a:p>
            <a:pPr marL="342900" indent="-342900">
              <a:spcAft>
                <a:spcPts val="600"/>
              </a:spcAft>
              <a:buSzPct val="100000"/>
              <a:buChar char="•"/>
            </a:pPr>
            <a:r>
              <a:rPr lang="en-US" sz="1200" dirty="0">
                <a:solidFill>
                  <a:schemeClr val="bg1"/>
                </a:solidFill>
              </a:rPr>
              <a:t>Middleware: CORS, JSON parsing, error handler</a:t>
            </a:r>
            <a:endParaRPr lang="en-US" sz="1200" dirty="0"/>
          </a:p>
          <a:p>
            <a:pPr marL="342900" indent="-342900">
              <a:spcAft>
                <a:spcPts val="600"/>
              </a:spcAft>
              <a:buSzPct val="100000"/>
              <a:buChar char="•"/>
            </a:pPr>
            <a:r>
              <a:rPr lang="en-US" sz="1200" dirty="0">
                <a:solidFill>
                  <a:schemeClr val="bg1"/>
                </a:solidFill>
              </a:rPr>
              <a:t>Passport local and JWT authentication</a:t>
            </a:r>
            <a:endParaRPr lang="en-US" sz="1200" dirty="0"/>
          </a:p>
          <a:p>
            <a:pPr marL="342900" indent="-342900">
              <a:spcAft>
                <a:spcPts val="600"/>
              </a:spcAft>
              <a:buSzPct val="100000"/>
              <a:buChar char="•"/>
            </a:pPr>
            <a:r>
              <a:rPr lang="en-US" sz="1200" dirty="0">
                <a:solidFill>
                  <a:schemeClr val="bg1"/>
                </a:solidFill>
              </a:rPr>
              <a:t>HTTPS in development and on Render</a:t>
            </a:r>
            <a:endParaRPr lang="en-US" sz="1200" dirty="0"/>
          </a:p>
        </p:txBody>
      </p:sp>
      <p:sp>
        <p:nvSpPr>
          <p:cNvPr id="14" name="arrow1"/>
          <p:cNvSpPr/>
          <p:nvPr/>
        </p:nvSpPr>
        <p:spPr>
          <a:xfrm>
            <a:off x="5833872" y="2514600"/>
            <a:ext cx="402336" cy="274320"/>
          </a:xfrm>
          <a:prstGeom prst="rightArrow">
            <a:avLst/>
          </a:prstGeom>
          <a:solidFill>
            <a:schemeClr val="bg2"/>
          </a:solidFill>
          <a:ln/>
        </p:spPr>
        <p:txBody>
          <a:bodyPr/>
          <a:lstStyle/>
          <a:p>
            <a:endParaRPr lang="en-US"/>
          </a:p>
        </p:txBody>
      </p:sp>
      <p:sp>
        <p:nvSpPr>
          <p:cNvPr id="15" name="text79"/>
          <p:cNvSpPr txBox="1"/>
          <p:nvPr/>
        </p:nvSpPr>
        <p:spPr>
          <a:xfrm>
            <a:off x="5760720" y="2834640"/>
            <a:ext cx="548640" cy="365760"/>
          </a:xfrm>
          <a:prstGeom prst="rect">
            <a:avLst/>
          </a:prstGeom>
          <a:noFill/>
          <a:ln/>
        </p:spPr>
        <p:txBody>
          <a:bodyPr wrap="square" lIns="0" tIns="0" rIns="0" bIns="0" rtlCol="0" anchor="t"/>
          <a:lstStyle/>
          <a:p>
            <a:pPr marL="0" indent="0" algn="ctr">
              <a:buNone/>
            </a:pPr>
            <a:r>
              <a:rPr lang="en-US" sz="800" dirty="0">
                <a:solidFill>
                  <a:schemeClr val="bg2"/>
                </a:solidFill>
              </a:rPr>
              <a:t>Mongoose</a:t>
            </a:r>
            <a:endParaRPr lang="en-US" sz="800" dirty="0"/>
          </a:p>
        </p:txBody>
      </p:sp>
      <p:sp>
        <p:nvSpPr>
          <p:cNvPr id="16" name="card80"/>
          <p:cNvSpPr/>
          <p:nvPr/>
        </p:nvSpPr>
        <p:spPr>
          <a:xfrm>
            <a:off x="6309360" y="1143000"/>
            <a:ext cx="2377440" cy="3383280"/>
          </a:xfrm>
          <a:prstGeom prst="roundRect">
            <a:avLst>
              <a:gd name="adj" fmla="val 4615"/>
            </a:avLst>
          </a:prstGeom>
          <a:solidFill>
            <a:schemeClr val="tx2"/>
          </a:solidFill>
          <a:ln w="9525">
            <a:solidFill>
              <a:schemeClr val="accent6"/>
            </a:solidFill>
            <a:prstDash val="solid"/>
          </a:ln>
        </p:spPr>
        <p:txBody>
          <a:bodyPr/>
          <a:lstStyle/>
          <a:p>
            <a:endParaRPr lang="en-US"/>
          </a:p>
        </p:txBody>
      </p:sp>
      <p:sp>
        <p:nvSpPr>
          <p:cNvPr id="17" name="pill81"/>
          <p:cNvSpPr txBox="1"/>
          <p:nvPr/>
        </p:nvSpPr>
        <p:spPr>
          <a:xfrm>
            <a:off x="6492240" y="1325880"/>
            <a:ext cx="109728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3"/>
                </a:solidFill>
              </a:rPr>
              <a:t>DATABASE</a:t>
            </a:r>
            <a:endParaRPr lang="en-US" sz="1000" dirty="0"/>
          </a:p>
        </p:txBody>
      </p:sp>
      <p:sp>
        <p:nvSpPr>
          <p:cNvPr id="18" name="text82"/>
          <p:cNvSpPr txBox="1"/>
          <p:nvPr/>
        </p:nvSpPr>
        <p:spPr>
          <a:xfrm>
            <a:off x="6492240" y="1691640"/>
            <a:ext cx="2011680" cy="365760"/>
          </a:xfrm>
          <a:prstGeom prst="rect">
            <a:avLst/>
          </a:prstGeom>
          <a:noFill/>
          <a:ln/>
        </p:spPr>
        <p:txBody>
          <a:bodyPr wrap="square" lIns="0" tIns="0" rIns="0" bIns="0" rtlCol="0" anchor="t"/>
          <a:lstStyle/>
          <a:p>
            <a:pPr marL="0" indent="0">
              <a:buNone/>
            </a:pPr>
            <a:r>
              <a:rPr lang="en-US" sz="1700" b="1" dirty="0">
                <a:solidFill>
                  <a:schemeClr val="accent3"/>
                </a:solidFill>
              </a:rPr>
              <a:t>MongoDB Atlas</a:t>
            </a:r>
            <a:endParaRPr lang="en-US" sz="1700" dirty="0"/>
          </a:p>
        </p:txBody>
      </p:sp>
      <p:sp>
        <p:nvSpPr>
          <p:cNvPr id="19" name="text83"/>
          <p:cNvSpPr txBox="1"/>
          <p:nvPr/>
        </p:nvSpPr>
        <p:spPr>
          <a:xfrm>
            <a:off x="6492240" y="2194560"/>
            <a:ext cx="2057400" cy="21945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bg1"/>
                </a:solidFill>
              </a:rPr>
              <a:t>Cloud-hosted persistent data</a:t>
            </a:r>
            <a:endParaRPr lang="en-US" sz="1200" dirty="0"/>
          </a:p>
          <a:p>
            <a:pPr marL="342900" indent="-342900">
              <a:spcAft>
                <a:spcPts val="600"/>
              </a:spcAft>
              <a:buSzPct val="100000"/>
              <a:buChar char="•"/>
            </a:pPr>
            <a:r>
              <a:rPr lang="en-US" sz="1200" dirty="0">
                <a:solidFill>
                  <a:schemeClr val="bg1"/>
                </a:solidFill>
              </a:rPr>
              <a:t>User and Listing collections</a:t>
            </a:r>
            <a:endParaRPr lang="en-US" sz="1200" dirty="0"/>
          </a:p>
          <a:p>
            <a:pPr marL="342900" indent="-342900">
              <a:spcAft>
                <a:spcPts val="600"/>
              </a:spcAft>
              <a:buSzPct val="100000"/>
              <a:buChar char="•"/>
            </a:pPr>
            <a:r>
              <a:rPr lang="en-US" sz="1200" dirty="0">
                <a:solidFill>
                  <a:schemeClr val="bg1"/>
                </a:solidFill>
              </a:rPr>
              <a:t>Accessed through Mongoose models</a:t>
            </a:r>
            <a:endParaRPr lang="en-US" sz="1200" dirty="0"/>
          </a:p>
          <a:p>
            <a:pPr marL="342900" indent="-342900">
              <a:spcAft>
                <a:spcPts val="600"/>
              </a:spcAft>
              <a:buSzPct val="100000"/>
              <a:buChar char="•"/>
            </a:pPr>
            <a:r>
              <a:rPr lang="en-US" sz="1200" dirty="0">
                <a:solidFill>
                  <a:schemeClr val="bg1"/>
                </a:solidFill>
              </a:rPr>
              <a:t>Connection string kept in environment variables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Architecture — key components</a:t>
            </a:r>
            <a:endParaRPr lang="en-US" sz="3000" dirty="0"/>
          </a:p>
        </p:txBody>
      </p:sp>
      <p:sp>
        <p:nvSpPr>
          <p:cNvPr id="3" name="text84"/>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What each tier owns</a:t>
            </a:r>
            <a:endParaRPr lang="en-US" sz="1400" dirty="0"/>
          </a:p>
        </p:txBody>
      </p:sp>
      <p:sp>
        <p:nvSpPr>
          <p:cNvPr id="4" name="card85"/>
          <p:cNvSpPr/>
          <p:nvPr/>
        </p:nvSpPr>
        <p:spPr>
          <a:xfrm>
            <a:off x="457200" y="1143000"/>
            <a:ext cx="8229600" cy="603504"/>
          </a:xfrm>
          <a:prstGeom prst="roundRect">
            <a:avLst>
              <a:gd name="adj" fmla="val 18182"/>
            </a:avLst>
          </a:prstGeom>
          <a:solidFill>
            <a:schemeClr val="tx2"/>
          </a:solidFill>
          <a:ln w="9525">
            <a:solidFill>
              <a:schemeClr val="accent6"/>
            </a:solidFill>
            <a:prstDash val="solid"/>
          </a:ln>
        </p:spPr>
        <p:txBody>
          <a:bodyPr/>
          <a:lstStyle/>
          <a:p>
            <a:endParaRPr lang="en-US"/>
          </a:p>
        </p:txBody>
      </p:sp>
      <p:sp>
        <p:nvSpPr>
          <p:cNvPr id="5" name="pill86"/>
          <p:cNvSpPr txBox="1"/>
          <p:nvPr/>
        </p:nvSpPr>
        <p:spPr>
          <a:xfrm>
            <a:off x="640080" y="1316736"/>
            <a:ext cx="14630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1"/>
                </a:solidFill>
              </a:rPr>
              <a:t>CLIENT</a:t>
            </a:r>
            <a:endParaRPr lang="en-US" sz="1000" dirty="0"/>
          </a:p>
        </p:txBody>
      </p:sp>
      <p:sp>
        <p:nvSpPr>
          <p:cNvPr id="6" name="text87"/>
          <p:cNvSpPr txBox="1"/>
          <p:nvPr/>
        </p:nvSpPr>
        <p:spPr>
          <a:xfrm>
            <a:off x="2331720" y="1143000"/>
            <a:ext cx="6172200" cy="603504"/>
          </a:xfrm>
          <a:prstGeom prst="rect">
            <a:avLst/>
          </a:prstGeom>
          <a:noFill/>
          <a:ln/>
        </p:spPr>
        <p:txBody>
          <a:bodyPr wrap="square" lIns="0" tIns="0" rIns="0" bIns="0" rtlCol="0" anchor="ctr"/>
          <a:lstStyle/>
          <a:p>
            <a:pPr marL="0" indent="0">
              <a:buNone/>
            </a:pPr>
            <a:r>
              <a:rPr lang="en-US" sz="1400" dirty="0">
                <a:solidFill>
                  <a:schemeClr val="bg1"/>
                </a:solidFill>
              </a:rPr>
              <a:t>Shared api.js (Bearer token in localStorage), jQM pages in components/</a:t>
            </a:r>
            <a:endParaRPr lang="en-US" sz="1400" dirty="0"/>
          </a:p>
        </p:txBody>
      </p:sp>
      <p:sp>
        <p:nvSpPr>
          <p:cNvPr id="7" name="card88"/>
          <p:cNvSpPr/>
          <p:nvPr/>
        </p:nvSpPr>
        <p:spPr>
          <a:xfrm>
            <a:off x="457200" y="1837944"/>
            <a:ext cx="8229600" cy="603504"/>
          </a:xfrm>
          <a:prstGeom prst="roundRect">
            <a:avLst>
              <a:gd name="adj" fmla="val 18182"/>
            </a:avLst>
          </a:prstGeom>
          <a:solidFill>
            <a:schemeClr val="tx2"/>
          </a:solidFill>
          <a:ln w="9525">
            <a:solidFill>
              <a:schemeClr val="accent6"/>
            </a:solidFill>
            <a:prstDash val="solid"/>
          </a:ln>
        </p:spPr>
        <p:txBody>
          <a:bodyPr/>
          <a:lstStyle/>
          <a:p>
            <a:endParaRPr lang="en-US"/>
          </a:p>
        </p:txBody>
      </p:sp>
      <p:sp>
        <p:nvSpPr>
          <p:cNvPr id="8" name="pill89"/>
          <p:cNvSpPr txBox="1"/>
          <p:nvPr/>
        </p:nvSpPr>
        <p:spPr>
          <a:xfrm>
            <a:off x="640080" y="2011680"/>
            <a:ext cx="14630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2"/>
                </a:solidFill>
              </a:rPr>
              <a:t>AUTH API</a:t>
            </a:r>
            <a:endParaRPr lang="en-US" sz="1000" dirty="0"/>
          </a:p>
        </p:txBody>
      </p:sp>
      <p:sp>
        <p:nvSpPr>
          <p:cNvPr id="9" name="text90"/>
          <p:cNvSpPr txBox="1"/>
          <p:nvPr/>
        </p:nvSpPr>
        <p:spPr>
          <a:xfrm>
            <a:off x="2331720" y="1837944"/>
            <a:ext cx="6172200" cy="603504"/>
          </a:xfrm>
          <a:prstGeom prst="rect">
            <a:avLst/>
          </a:prstGeom>
          <a:noFill/>
          <a:ln/>
        </p:spPr>
        <p:txBody>
          <a:bodyPr wrap="square" lIns="0" tIns="0" rIns="0" bIns="0" rtlCol="0" anchor="ctr"/>
          <a:lstStyle/>
          <a:p>
            <a:pPr marL="0" indent="0">
              <a:buNone/>
            </a:pPr>
            <a:r>
              <a:rPr lang="en-US" sz="1400" dirty="0">
                <a:solidFill>
                  <a:schemeClr val="bg1"/>
                </a:solidFill>
              </a:rPr>
              <a:t>POST /users/signup | login | logout · GET /users/me</a:t>
            </a:r>
            <a:endParaRPr lang="en-US" sz="1400" dirty="0"/>
          </a:p>
        </p:txBody>
      </p:sp>
      <p:sp>
        <p:nvSpPr>
          <p:cNvPr id="10" name="card91"/>
          <p:cNvSpPr/>
          <p:nvPr/>
        </p:nvSpPr>
        <p:spPr>
          <a:xfrm>
            <a:off x="457200" y="2532888"/>
            <a:ext cx="8229600" cy="603504"/>
          </a:xfrm>
          <a:prstGeom prst="roundRect">
            <a:avLst>
              <a:gd name="adj" fmla="val 18182"/>
            </a:avLst>
          </a:prstGeom>
          <a:solidFill>
            <a:schemeClr val="tx2"/>
          </a:solidFill>
          <a:ln w="9525">
            <a:solidFill>
              <a:schemeClr val="accent6"/>
            </a:solidFill>
            <a:prstDash val="solid"/>
          </a:ln>
        </p:spPr>
        <p:txBody>
          <a:bodyPr/>
          <a:lstStyle/>
          <a:p>
            <a:endParaRPr lang="en-US"/>
          </a:p>
        </p:txBody>
      </p:sp>
      <p:sp>
        <p:nvSpPr>
          <p:cNvPr id="11" name="pill92"/>
          <p:cNvSpPr txBox="1"/>
          <p:nvPr/>
        </p:nvSpPr>
        <p:spPr>
          <a:xfrm>
            <a:off x="640080" y="2706624"/>
            <a:ext cx="14630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2"/>
                </a:solidFill>
              </a:rPr>
              <a:t>LISTINGS API</a:t>
            </a:r>
            <a:endParaRPr lang="en-US" sz="1000" dirty="0"/>
          </a:p>
        </p:txBody>
      </p:sp>
      <p:sp>
        <p:nvSpPr>
          <p:cNvPr id="12" name="text93"/>
          <p:cNvSpPr txBox="1"/>
          <p:nvPr/>
        </p:nvSpPr>
        <p:spPr>
          <a:xfrm>
            <a:off x="2331720" y="2532888"/>
            <a:ext cx="6172200" cy="603504"/>
          </a:xfrm>
          <a:prstGeom prst="rect">
            <a:avLst/>
          </a:prstGeom>
          <a:noFill/>
          <a:ln/>
        </p:spPr>
        <p:txBody>
          <a:bodyPr wrap="square" lIns="0" tIns="0" rIns="0" bIns="0" rtlCol="0" anchor="ctr"/>
          <a:lstStyle/>
          <a:p>
            <a:pPr marL="0" indent="0">
              <a:buNone/>
            </a:pPr>
            <a:r>
              <a:rPr lang="en-US" sz="1400" dirty="0">
                <a:solidFill>
                  <a:schemeClr val="bg1"/>
                </a:solidFill>
              </a:rPr>
              <a:t>GET/POST/PUT/DELETE /listings (+ owner checks on mutate)</a:t>
            </a:r>
            <a:endParaRPr lang="en-US" sz="1400" dirty="0"/>
          </a:p>
        </p:txBody>
      </p:sp>
      <p:sp>
        <p:nvSpPr>
          <p:cNvPr id="13" name="card94"/>
          <p:cNvSpPr/>
          <p:nvPr/>
        </p:nvSpPr>
        <p:spPr>
          <a:xfrm>
            <a:off x="457200" y="3227832"/>
            <a:ext cx="8229600" cy="603504"/>
          </a:xfrm>
          <a:prstGeom prst="roundRect">
            <a:avLst>
              <a:gd name="adj" fmla="val 18182"/>
            </a:avLst>
          </a:prstGeom>
          <a:solidFill>
            <a:schemeClr val="tx2"/>
          </a:solidFill>
          <a:ln w="9525">
            <a:solidFill>
              <a:schemeClr val="accent6"/>
            </a:solidFill>
            <a:prstDash val="solid"/>
          </a:ln>
        </p:spPr>
        <p:txBody>
          <a:bodyPr/>
          <a:lstStyle/>
          <a:p>
            <a:endParaRPr lang="en-US"/>
          </a:p>
        </p:txBody>
      </p:sp>
      <p:sp>
        <p:nvSpPr>
          <p:cNvPr id="14" name="pill95"/>
          <p:cNvSpPr txBox="1"/>
          <p:nvPr/>
        </p:nvSpPr>
        <p:spPr>
          <a:xfrm>
            <a:off x="640080" y="3401568"/>
            <a:ext cx="14630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2"/>
                </a:solidFill>
              </a:rPr>
              <a:t>MIDDLEWARE</a:t>
            </a:r>
            <a:endParaRPr lang="en-US" sz="1000" dirty="0"/>
          </a:p>
        </p:txBody>
      </p:sp>
      <p:sp>
        <p:nvSpPr>
          <p:cNvPr id="15" name="text96"/>
          <p:cNvSpPr txBox="1"/>
          <p:nvPr/>
        </p:nvSpPr>
        <p:spPr>
          <a:xfrm>
            <a:off x="2331720" y="3227832"/>
            <a:ext cx="6172200" cy="603504"/>
          </a:xfrm>
          <a:prstGeom prst="rect">
            <a:avLst/>
          </a:prstGeom>
          <a:noFill/>
          <a:ln/>
        </p:spPr>
        <p:txBody>
          <a:bodyPr wrap="square" lIns="0" tIns="0" rIns="0" bIns="0" rtlCol="0" anchor="ctr"/>
          <a:lstStyle/>
          <a:p>
            <a:pPr marL="0" indent="0">
              <a:buNone/>
            </a:pPr>
            <a:r>
              <a:rPr lang="en-US" sz="1400" dirty="0">
                <a:solidFill>
                  <a:schemeClr val="bg1"/>
                </a:solidFill>
              </a:rPr>
              <a:t>CORS, Passport JWT authenticate, central JSON error handler</a:t>
            </a:r>
            <a:endParaRPr lang="en-US" sz="1400" dirty="0"/>
          </a:p>
        </p:txBody>
      </p:sp>
      <p:sp>
        <p:nvSpPr>
          <p:cNvPr id="16" name="card97"/>
          <p:cNvSpPr/>
          <p:nvPr/>
        </p:nvSpPr>
        <p:spPr>
          <a:xfrm>
            <a:off x="457200" y="3922776"/>
            <a:ext cx="8229600" cy="603504"/>
          </a:xfrm>
          <a:prstGeom prst="roundRect">
            <a:avLst>
              <a:gd name="adj" fmla="val 18182"/>
            </a:avLst>
          </a:prstGeom>
          <a:solidFill>
            <a:schemeClr val="tx2"/>
          </a:solidFill>
          <a:ln w="9525">
            <a:solidFill>
              <a:schemeClr val="accent6"/>
            </a:solidFill>
            <a:prstDash val="solid"/>
          </a:ln>
        </p:spPr>
        <p:txBody>
          <a:bodyPr/>
          <a:lstStyle/>
          <a:p>
            <a:endParaRPr lang="en-US"/>
          </a:p>
        </p:txBody>
      </p:sp>
      <p:sp>
        <p:nvSpPr>
          <p:cNvPr id="17" name="pill98"/>
          <p:cNvSpPr txBox="1"/>
          <p:nvPr/>
        </p:nvSpPr>
        <p:spPr>
          <a:xfrm>
            <a:off x="640080" y="4096512"/>
            <a:ext cx="14630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3"/>
                </a:solidFill>
              </a:rPr>
              <a:t>DEPLOY PATH</a:t>
            </a:r>
            <a:endParaRPr lang="en-US" sz="1000" dirty="0"/>
          </a:p>
        </p:txBody>
      </p:sp>
      <p:sp>
        <p:nvSpPr>
          <p:cNvPr id="18" name="text99"/>
          <p:cNvSpPr txBox="1"/>
          <p:nvPr/>
        </p:nvSpPr>
        <p:spPr>
          <a:xfrm>
            <a:off x="2331720" y="3922776"/>
            <a:ext cx="6172200" cy="603504"/>
          </a:xfrm>
          <a:prstGeom prst="rect">
            <a:avLst/>
          </a:prstGeom>
          <a:noFill/>
          <a:ln/>
        </p:spPr>
        <p:txBody>
          <a:bodyPr wrap="square" lIns="0" tIns="0" rIns="0" bIns="0" rtlCol="0" anchor="ctr"/>
          <a:lstStyle/>
          <a:p>
            <a:pPr marL="0" indent="0">
              <a:buNone/>
            </a:pPr>
            <a:r>
              <a:rPr lang="en-US" sz="1400" dirty="0">
                <a:solidFill>
                  <a:schemeClr val="bg1"/>
                </a:solidFill>
              </a:rPr>
              <a:t>Atlas for data · Render for API · Cordova for Android demo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One API, four HTTP request types</a:t>
            </a:r>
            <a:endParaRPr lang="en-US" sz="3000" dirty="0"/>
          </a:p>
        </p:txBody>
      </p:sp>
      <p:sp>
        <p:nvSpPr>
          <p:cNvPr id="3" name="text100"/>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Nine endpoints across two Express routers</a:t>
            </a:r>
            <a:endParaRPr lang="en-US" sz="1400" dirty="0"/>
          </a:p>
        </p:txBody>
      </p:sp>
      <p:sp>
        <p:nvSpPr>
          <p:cNvPr id="4" name="pill101"/>
          <p:cNvSpPr txBox="1"/>
          <p:nvPr/>
        </p:nvSpPr>
        <p:spPr>
          <a:xfrm>
            <a:off x="457200" y="1170432"/>
            <a:ext cx="7772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1"/>
                </a:solidFill>
              </a:rPr>
              <a:t>POST</a:t>
            </a:r>
            <a:endParaRPr lang="en-US" sz="1000" dirty="0"/>
          </a:p>
        </p:txBody>
      </p:sp>
      <p:sp>
        <p:nvSpPr>
          <p:cNvPr id="5" name="text102"/>
          <p:cNvSpPr txBox="1"/>
          <p:nvPr/>
        </p:nvSpPr>
        <p:spPr>
          <a:xfrm>
            <a:off x="1371600" y="1143000"/>
            <a:ext cx="1645920" cy="310896"/>
          </a:xfrm>
          <a:prstGeom prst="rect">
            <a:avLst/>
          </a:prstGeom>
          <a:noFill/>
          <a:ln/>
        </p:spPr>
        <p:txBody>
          <a:bodyPr wrap="square" lIns="0" tIns="0" rIns="0" bIns="0" rtlCol="0" anchor="ctr"/>
          <a:lstStyle/>
          <a:p>
            <a:pPr marL="0" indent="0">
              <a:buNone/>
            </a:pPr>
            <a:r>
              <a:rPr lang="en-US" sz="1200" b="1" dirty="0">
                <a:solidFill>
                  <a:schemeClr val="bg1"/>
                </a:solidFill>
                <a:latin typeface="Courier New" pitchFamily="34" charset="0"/>
                <a:ea typeface="Courier New" pitchFamily="34" charset="-122"/>
                <a:cs typeface="Courier New" pitchFamily="34" charset="-120"/>
              </a:rPr>
              <a:t>/users/signup</a:t>
            </a:r>
            <a:endParaRPr lang="en-US" sz="1200" dirty="0"/>
          </a:p>
        </p:txBody>
      </p:sp>
      <p:sp>
        <p:nvSpPr>
          <p:cNvPr id="6" name="text103"/>
          <p:cNvSpPr txBox="1"/>
          <p:nvPr/>
        </p:nvSpPr>
        <p:spPr>
          <a:xfrm>
            <a:off x="3017520" y="1143000"/>
            <a:ext cx="1737360" cy="310896"/>
          </a:xfrm>
          <a:prstGeom prst="rect">
            <a:avLst/>
          </a:prstGeom>
          <a:noFill/>
          <a:ln/>
        </p:spPr>
        <p:txBody>
          <a:bodyPr wrap="square" lIns="0" tIns="0" rIns="0" bIns="0" rtlCol="0" anchor="ctr"/>
          <a:lstStyle/>
          <a:p>
            <a:pPr marL="0" indent="0">
              <a:buNone/>
            </a:pPr>
            <a:r>
              <a:rPr lang="en-US" sz="1200" dirty="0">
                <a:solidFill>
                  <a:schemeClr val="bg2"/>
                </a:solidFill>
              </a:rPr>
              <a:t>Create account</a:t>
            </a:r>
            <a:endParaRPr lang="en-US" sz="1200" dirty="0"/>
          </a:p>
        </p:txBody>
      </p:sp>
      <p:sp>
        <p:nvSpPr>
          <p:cNvPr id="7" name="text104"/>
          <p:cNvSpPr txBox="1"/>
          <p:nvPr/>
        </p:nvSpPr>
        <p:spPr>
          <a:xfrm>
            <a:off x="4754880" y="1143000"/>
            <a:ext cx="640080" cy="310896"/>
          </a:xfrm>
          <a:prstGeom prst="rect">
            <a:avLst/>
          </a:prstGeom>
          <a:noFill/>
          <a:ln/>
        </p:spPr>
        <p:txBody>
          <a:bodyPr wrap="square" lIns="0" tIns="0" rIns="0" bIns="0" rtlCol="0" anchor="ctr"/>
          <a:lstStyle/>
          <a:p>
            <a:pPr marL="0" indent="0">
              <a:buNone/>
            </a:pPr>
            <a:r>
              <a:rPr lang="en-US" sz="1100" b="1" dirty="0">
                <a:solidFill>
                  <a:schemeClr val="bg2"/>
                </a:solidFill>
              </a:rPr>
              <a:t>Public</a:t>
            </a:r>
            <a:endParaRPr lang="en-US" sz="1100" dirty="0"/>
          </a:p>
        </p:txBody>
      </p:sp>
      <p:sp>
        <p:nvSpPr>
          <p:cNvPr id="8" name="pill105"/>
          <p:cNvSpPr txBox="1"/>
          <p:nvPr/>
        </p:nvSpPr>
        <p:spPr>
          <a:xfrm>
            <a:off x="457200" y="1545336"/>
            <a:ext cx="7772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1"/>
                </a:solidFill>
              </a:rPr>
              <a:t>POST</a:t>
            </a:r>
            <a:endParaRPr lang="en-US" sz="1000" dirty="0"/>
          </a:p>
        </p:txBody>
      </p:sp>
      <p:sp>
        <p:nvSpPr>
          <p:cNvPr id="9" name="text106"/>
          <p:cNvSpPr txBox="1"/>
          <p:nvPr/>
        </p:nvSpPr>
        <p:spPr>
          <a:xfrm>
            <a:off x="1371600" y="1517904"/>
            <a:ext cx="1645920" cy="310896"/>
          </a:xfrm>
          <a:prstGeom prst="rect">
            <a:avLst/>
          </a:prstGeom>
          <a:noFill/>
          <a:ln/>
        </p:spPr>
        <p:txBody>
          <a:bodyPr wrap="square" lIns="0" tIns="0" rIns="0" bIns="0" rtlCol="0" anchor="ctr"/>
          <a:lstStyle/>
          <a:p>
            <a:pPr marL="0" indent="0">
              <a:buNone/>
            </a:pPr>
            <a:r>
              <a:rPr lang="en-US" sz="1200" b="1" dirty="0">
                <a:solidFill>
                  <a:schemeClr val="bg1"/>
                </a:solidFill>
                <a:latin typeface="Courier New" pitchFamily="34" charset="0"/>
                <a:ea typeface="Courier New" pitchFamily="34" charset="-122"/>
                <a:cs typeface="Courier New" pitchFamily="34" charset="-120"/>
              </a:rPr>
              <a:t>/users/login</a:t>
            </a:r>
            <a:endParaRPr lang="en-US" sz="1200" dirty="0"/>
          </a:p>
        </p:txBody>
      </p:sp>
      <p:sp>
        <p:nvSpPr>
          <p:cNvPr id="10" name="text107"/>
          <p:cNvSpPr txBox="1"/>
          <p:nvPr/>
        </p:nvSpPr>
        <p:spPr>
          <a:xfrm>
            <a:off x="3017520" y="1517904"/>
            <a:ext cx="1737360" cy="310896"/>
          </a:xfrm>
          <a:prstGeom prst="rect">
            <a:avLst/>
          </a:prstGeom>
          <a:noFill/>
          <a:ln/>
        </p:spPr>
        <p:txBody>
          <a:bodyPr wrap="square" lIns="0" tIns="0" rIns="0" bIns="0" rtlCol="0" anchor="ctr"/>
          <a:lstStyle/>
          <a:p>
            <a:pPr marL="0" indent="0">
              <a:buNone/>
            </a:pPr>
            <a:r>
              <a:rPr lang="en-US" sz="1200" dirty="0">
                <a:solidFill>
                  <a:schemeClr val="bg2"/>
                </a:solidFill>
              </a:rPr>
              <a:t>Log in, returns JWT</a:t>
            </a:r>
            <a:endParaRPr lang="en-US" sz="1200" dirty="0"/>
          </a:p>
        </p:txBody>
      </p:sp>
      <p:sp>
        <p:nvSpPr>
          <p:cNvPr id="11" name="text108"/>
          <p:cNvSpPr txBox="1"/>
          <p:nvPr/>
        </p:nvSpPr>
        <p:spPr>
          <a:xfrm>
            <a:off x="4754880" y="1517904"/>
            <a:ext cx="640080" cy="310896"/>
          </a:xfrm>
          <a:prstGeom prst="rect">
            <a:avLst/>
          </a:prstGeom>
          <a:noFill/>
          <a:ln/>
        </p:spPr>
        <p:txBody>
          <a:bodyPr wrap="square" lIns="0" tIns="0" rIns="0" bIns="0" rtlCol="0" anchor="ctr"/>
          <a:lstStyle/>
          <a:p>
            <a:pPr marL="0" indent="0">
              <a:buNone/>
            </a:pPr>
            <a:r>
              <a:rPr lang="en-US" sz="1100" b="1" dirty="0">
                <a:solidFill>
                  <a:schemeClr val="bg2"/>
                </a:solidFill>
              </a:rPr>
              <a:t>Public</a:t>
            </a:r>
            <a:endParaRPr lang="en-US" sz="1100" dirty="0"/>
          </a:p>
        </p:txBody>
      </p:sp>
      <p:sp>
        <p:nvSpPr>
          <p:cNvPr id="12" name="pill109"/>
          <p:cNvSpPr txBox="1"/>
          <p:nvPr/>
        </p:nvSpPr>
        <p:spPr>
          <a:xfrm>
            <a:off x="457200" y="1920240"/>
            <a:ext cx="7772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1"/>
                </a:solidFill>
              </a:rPr>
              <a:t>POST</a:t>
            </a:r>
            <a:endParaRPr lang="en-US" sz="1000" dirty="0"/>
          </a:p>
        </p:txBody>
      </p:sp>
      <p:sp>
        <p:nvSpPr>
          <p:cNvPr id="13" name="text110"/>
          <p:cNvSpPr txBox="1"/>
          <p:nvPr/>
        </p:nvSpPr>
        <p:spPr>
          <a:xfrm>
            <a:off x="1371600" y="1892808"/>
            <a:ext cx="1645920" cy="310896"/>
          </a:xfrm>
          <a:prstGeom prst="rect">
            <a:avLst/>
          </a:prstGeom>
          <a:noFill/>
          <a:ln/>
        </p:spPr>
        <p:txBody>
          <a:bodyPr wrap="square" lIns="0" tIns="0" rIns="0" bIns="0" rtlCol="0" anchor="ctr"/>
          <a:lstStyle/>
          <a:p>
            <a:pPr marL="0" indent="0">
              <a:buNone/>
            </a:pPr>
            <a:r>
              <a:rPr lang="en-US" sz="1200" b="1" dirty="0">
                <a:solidFill>
                  <a:schemeClr val="bg1"/>
                </a:solidFill>
                <a:latin typeface="Courier New" pitchFamily="34" charset="0"/>
                <a:ea typeface="Courier New" pitchFamily="34" charset="-122"/>
                <a:cs typeface="Courier New" pitchFamily="34" charset="-120"/>
              </a:rPr>
              <a:t>/users/logout</a:t>
            </a:r>
            <a:endParaRPr lang="en-US" sz="1200" dirty="0"/>
          </a:p>
        </p:txBody>
      </p:sp>
      <p:sp>
        <p:nvSpPr>
          <p:cNvPr id="14" name="text111"/>
          <p:cNvSpPr txBox="1"/>
          <p:nvPr/>
        </p:nvSpPr>
        <p:spPr>
          <a:xfrm>
            <a:off x="3017520" y="1892808"/>
            <a:ext cx="1737360" cy="310896"/>
          </a:xfrm>
          <a:prstGeom prst="rect">
            <a:avLst/>
          </a:prstGeom>
          <a:noFill/>
          <a:ln/>
        </p:spPr>
        <p:txBody>
          <a:bodyPr wrap="square" lIns="0" tIns="0" rIns="0" bIns="0" rtlCol="0" anchor="ctr"/>
          <a:lstStyle/>
          <a:p>
            <a:pPr marL="0" indent="0">
              <a:buNone/>
            </a:pPr>
            <a:r>
              <a:rPr lang="en-US" sz="1200" dirty="0">
                <a:solidFill>
                  <a:schemeClr val="bg2"/>
                </a:solidFill>
              </a:rPr>
              <a:t>Log out</a:t>
            </a:r>
            <a:endParaRPr lang="en-US" sz="1200" dirty="0"/>
          </a:p>
        </p:txBody>
      </p:sp>
      <p:sp>
        <p:nvSpPr>
          <p:cNvPr id="15" name="text112"/>
          <p:cNvSpPr txBox="1"/>
          <p:nvPr/>
        </p:nvSpPr>
        <p:spPr>
          <a:xfrm>
            <a:off x="4754880" y="1892808"/>
            <a:ext cx="640080" cy="310896"/>
          </a:xfrm>
          <a:prstGeom prst="rect">
            <a:avLst/>
          </a:prstGeom>
          <a:noFill/>
          <a:ln/>
        </p:spPr>
        <p:txBody>
          <a:bodyPr wrap="square" lIns="0" tIns="0" rIns="0" bIns="0" rtlCol="0" anchor="ctr"/>
          <a:lstStyle/>
          <a:p>
            <a:pPr marL="0" indent="0">
              <a:buNone/>
            </a:pPr>
            <a:r>
              <a:rPr lang="en-US" sz="1100" b="1" dirty="0">
                <a:solidFill>
                  <a:schemeClr val="bg1"/>
                </a:solidFill>
              </a:rPr>
              <a:t>JWT</a:t>
            </a:r>
            <a:endParaRPr lang="en-US" sz="1100" dirty="0"/>
          </a:p>
        </p:txBody>
      </p:sp>
      <p:sp>
        <p:nvSpPr>
          <p:cNvPr id="16" name="pill113"/>
          <p:cNvSpPr txBox="1"/>
          <p:nvPr/>
        </p:nvSpPr>
        <p:spPr>
          <a:xfrm>
            <a:off x="457200" y="2295144"/>
            <a:ext cx="7772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3"/>
                </a:solidFill>
              </a:rPr>
              <a:t>GET</a:t>
            </a:r>
            <a:endParaRPr lang="en-US" sz="1000" dirty="0"/>
          </a:p>
        </p:txBody>
      </p:sp>
      <p:sp>
        <p:nvSpPr>
          <p:cNvPr id="17" name="text114"/>
          <p:cNvSpPr txBox="1"/>
          <p:nvPr/>
        </p:nvSpPr>
        <p:spPr>
          <a:xfrm>
            <a:off x="1371600" y="2267712"/>
            <a:ext cx="1645920" cy="310896"/>
          </a:xfrm>
          <a:prstGeom prst="rect">
            <a:avLst/>
          </a:prstGeom>
          <a:noFill/>
          <a:ln/>
        </p:spPr>
        <p:txBody>
          <a:bodyPr wrap="square" lIns="0" tIns="0" rIns="0" bIns="0" rtlCol="0" anchor="ctr"/>
          <a:lstStyle/>
          <a:p>
            <a:pPr marL="0" indent="0">
              <a:buNone/>
            </a:pPr>
            <a:r>
              <a:rPr lang="en-US" sz="1200" b="1" dirty="0">
                <a:solidFill>
                  <a:schemeClr val="bg1"/>
                </a:solidFill>
                <a:latin typeface="Courier New" pitchFamily="34" charset="0"/>
                <a:ea typeface="Courier New" pitchFamily="34" charset="-122"/>
                <a:cs typeface="Courier New" pitchFamily="34" charset="-120"/>
              </a:rPr>
              <a:t>/users/me</a:t>
            </a:r>
            <a:endParaRPr lang="en-US" sz="1200" dirty="0"/>
          </a:p>
        </p:txBody>
      </p:sp>
      <p:sp>
        <p:nvSpPr>
          <p:cNvPr id="18" name="text115"/>
          <p:cNvSpPr txBox="1"/>
          <p:nvPr/>
        </p:nvSpPr>
        <p:spPr>
          <a:xfrm>
            <a:off x="3017520" y="2267712"/>
            <a:ext cx="1737360" cy="310896"/>
          </a:xfrm>
          <a:prstGeom prst="rect">
            <a:avLst/>
          </a:prstGeom>
          <a:noFill/>
          <a:ln/>
        </p:spPr>
        <p:txBody>
          <a:bodyPr wrap="square" lIns="0" tIns="0" rIns="0" bIns="0" rtlCol="0" anchor="ctr"/>
          <a:lstStyle/>
          <a:p>
            <a:pPr marL="0" indent="0">
              <a:buNone/>
            </a:pPr>
            <a:r>
              <a:rPr lang="en-US" sz="1200" dirty="0">
                <a:solidFill>
                  <a:schemeClr val="bg2"/>
                </a:solidFill>
              </a:rPr>
              <a:t>My profile</a:t>
            </a:r>
            <a:endParaRPr lang="en-US" sz="1200" dirty="0"/>
          </a:p>
        </p:txBody>
      </p:sp>
      <p:sp>
        <p:nvSpPr>
          <p:cNvPr id="19" name="text116"/>
          <p:cNvSpPr txBox="1"/>
          <p:nvPr/>
        </p:nvSpPr>
        <p:spPr>
          <a:xfrm>
            <a:off x="4754880" y="2267712"/>
            <a:ext cx="640080" cy="310896"/>
          </a:xfrm>
          <a:prstGeom prst="rect">
            <a:avLst/>
          </a:prstGeom>
          <a:noFill/>
          <a:ln/>
        </p:spPr>
        <p:txBody>
          <a:bodyPr wrap="square" lIns="0" tIns="0" rIns="0" bIns="0" rtlCol="0" anchor="ctr"/>
          <a:lstStyle/>
          <a:p>
            <a:pPr marL="0" indent="0">
              <a:buNone/>
            </a:pPr>
            <a:r>
              <a:rPr lang="en-US" sz="1100" b="1" dirty="0">
                <a:solidFill>
                  <a:schemeClr val="bg1"/>
                </a:solidFill>
              </a:rPr>
              <a:t>JWT</a:t>
            </a:r>
            <a:endParaRPr lang="en-US" sz="1100" dirty="0"/>
          </a:p>
        </p:txBody>
      </p:sp>
      <p:sp>
        <p:nvSpPr>
          <p:cNvPr id="20" name="pill117"/>
          <p:cNvSpPr txBox="1"/>
          <p:nvPr/>
        </p:nvSpPr>
        <p:spPr>
          <a:xfrm>
            <a:off x="457200" y="2670048"/>
            <a:ext cx="7772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3"/>
                </a:solidFill>
              </a:rPr>
              <a:t>GET</a:t>
            </a:r>
            <a:endParaRPr lang="en-US" sz="1000" dirty="0"/>
          </a:p>
        </p:txBody>
      </p:sp>
      <p:sp>
        <p:nvSpPr>
          <p:cNvPr id="21" name="text118"/>
          <p:cNvSpPr txBox="1"/>
          <p:nvPr/>
        </p:nvSpPr>
        <p:spPr>
          <a:xfrm>
            <a:off x="1371600" y="2642616"/>
            <a:ext cx="1645920" cy="310896"/>
          </a:xfrm>
          <a:prstGeom prst="rect">
            <a:avLst/>
          </a:prstGeom>
          <a:noFill/>
          <a:ln/>
        </p:spPr>
        <p:txBody>
          <a:bodyPr wrap="square" lIns="0" tIns="0" rIns="0" bIns="0" rtlCol="0" anchor="ctr"/>
          <a:lstStyle/>
          <a:p>
            <a:pPr marL="0" indent="0">
              <a:buNone/>
            </a:pPr>
            <a:r>
              <a:rPr lang="en-US" sz="1200" b="1" dirty="0">
                <a:solidFill>
                  <a:schemeClr val="bg1"/>
                </a:solidFill>
                <a:latin typeface="Courier New" pitchFamily="34" charset="0"/>
                <a:ea typeface="Courier New" pitchFamily="34" charset="-122"/>
                <a:cs typeface="Courier New" pitchFamily="34" charset="-120"/>
              </a:rPr>
              <a:t>/listings</a:t>
            </a:r>
            <a:endParaRPr lang="en-US" sz="1200" dirty="0"/>
          </a:p>
        </p:txBody>
      </p:sp>
      <p:sp>
        <p:nvSpPr>
          <p:cNvPr id="22" name="text119"/>
          <p:cNvSpPr txBox="1"/>
          <p:nvPr/>
        </p:nvSpPr>
        <p:spPr>
          <a:xfrm>
            <a:off x="3017520" y="2642616"/>
            <a:ext cx="1737360" cy="310896"/>
          </a:xfrm>
          <a:prstGeom prst="rect">
            <a:avLst/>
          </a:prstGeom>
          <a:noFill/>
          <a:ln/>
        </p:spPr>
        <p:txBody>
          <a:bodyPr wrap="square" lIns="0" tIns="0" rIns="0" bIns="0" rtlCol="0" anchor="ctr"/>
          <a:lstStyle/>
          <a:p>
            <a:pPr marL="0" indent="0">
              <a:buNone/>
            </a:pPr>
            <a:r>
              <a:rPr lang="en-US" sz="1200" dirty="0">
                <a:solidFill>
                  <a:schemeClr val="bg2"/>
                </a:solidFill>
              </a:rPr>
              <a:t>Browse, filter, search</a:t>
            </a:r>
            <a:endParaRPr lang="en-US" sz="1200" dirty="0"/>
          </a:p>
        </p:txBody>
      </p:sp>
      <p:sp>
        <p:nvSpPr>
          <p:cNvPr id="23" name="text120"/>
          <p:cNvSpPr txBox="1"/>
          <p:nvPr/>
        </p:nvSpPr>
        <p:spPr>
          <a:xfrm>
            <a:off x="4754880" y="2642616"/>
            <a:ext cx="640080" cy="310896"/>
          </a:xfrm>
          <a:prstGeom prst="rect">
            <a:avLst/>
          </a:prstGeom>
          <a:noFill/>
          <a:ln/>
        </p:spPr>
        <p:txBody>
          <a:bodyPr wrap="square" lIns="0" tIns="0" rIns="0" bIns="0" rtlCol="0" anchor="ctr"/>
          <a:lstStyle/>
          <a:p>
            <a:pPr marL="0" indent="0">
              <a:buNone/>
            </a:pPr>
            <a:r>
              <a:rPr lang="en-US" sz="1100" b="1" dirty="0">
                <a:solidFill>
                  <a:schemeClr val="bg2"/>
                </a:solidFill>
              </a:rPr>
              <a:t>Public</a:t>
            </a:r>
            <a:endParaRPr lang="en-US" sz="1100" dirty="0"/>
          </a:p>
        </p:txBody>
      </p:sp>
      <p:sp>
        <p:nvSpPr>
          <p:cNvPr id="24" name="pill121"/>
          <p:cNvSpPr txBox="1"/>
          <p:nvPr/>
        </p:nvSpPr>
        <p:spPr>
          <a:xfrm>
            <a:off x="457200" y="3044952"/>
            <a:ext cx="7772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3"/>
                </a:solidFill>
              </a:rPr>
              <a:t>GET</a:t>
            </a:r>
            <a:endParaRPr lang="en-US" sz="1000" dirty="0"/>
          </a:p>
        </p:txBody>
      </p:sp>
      <p:sp>
        <p:nvSpPr>
          <p:cNvPr id="25" name="text122"/>
          <p:cNvSpPr txBox="1"/>
          <p:nvPr/>
        </p:nvSpPr>
        <p:spPr>
          <a:xfrm>
            <a:off x="1371600" y="3017520"/>
            <a:ext cx="1645920" cy="310896"/>
          </a:xfrm>
          <a:prstGeom prst="rect">
            <a:avLst/>
          </a:prstGeom>
          <a:noFill/>
          <a:ln/>
        </p:spPr>
        <p:txBody>
          <a:bodyPr wrap="square" lIns="0" tIns="0" rIns="0" bIns="0" rtlCol="0" anchor="ctr"/>
          <a:lstStyle/>
          <a:p>
            <a:pPr marL="0" indent="0">
              <a:buNone/>
            </a:pPr>
            <a:r>
              <a:rPr lang="en-US" sz="1200" b="1" dirty="0">
                <a:solidFill>
                  <a:schemeClr val="bg1"/>
                </a:solidFill>
                <a:latin typeface="Courier New" pitchFamily="34" charset="0"/>
                <a:ea typeface="Courier New" pitchFamily="34" charset="-122"/>
                <a:cs typeface="Courier New" pitchFamily="34" charset="-120"/>
              </a:rPr>
              <a:t>/listings/:id</a:t>
            </a:r>
            <a:endParaRPr lang="en-US" sz="1200" dirty="0"/>
          </a:p>
        </p:txBody>
      </p:sp>
      <p:sp>
        <p:nvSpPr>
          <p:cNvPr id="26" name="text123"/>
          <p:cNvSpPr txBox="1"/>
          <p:nvPr/>
        </p:nvSpPr>
        <p:spPr>
          <a:xfrm>
            <a:off x="3017520" y="3017520"/>
            <a:ext cx="1737360" cy="310896"/>
          </a:xfrm>
          <a:prstGeom prst="rect">
            <a:avLst/>
          </a:prstGeom>
          <a:noFill/>
          <a:ln/>
        </p:spPr>
        <p:txBody>
          <a:bodyPr wrap="square" lIns="0" tIns="0" rIns="0" bIns="0" rtlCol="0" anchor="ctr"/>
          <a:lstStyle/>
          <a:p>
            <a:pPr marL="0" indent="0">
              <a:buNone/>
            </a:pPr>
            <a:r>
              <a:rPr lang="en-US" sz="1200" dirty="0">
                <a:solidFill>
                  <a:schemeClr val="bg2"/>
                </a:solidFill>
              </a:rPr>
              <a:t>Listing detail</a:t>
            </a:r>
            <a:endParaRPr lang="en-US" sz="1200" dirty="0"/>
          </a:p>
        </p:txBody>
      </p:sp>
      <p:sp>
        <p:nvSpPr>
          <p:cNvPr id="27" name="text124"/>
          <p:cNvSpPr txBox="1"/>
          <p:nvPr/>
        </p:nvSpPr>
        <p:spPr>
          <a:xfrm>
            <a:off x="4754880" y="3017520"/>
            <a:ext cx="640080" cy="310896"/>
          </a:xfrm>
          <a:prstGeom prst="rect">
            <a:avLst/>
          </a:prstGeom>
          <a:noFill/>
          <a:ln/>
        </p:spPr>
        <p:txBody>
          <a:bodyPr wrap="square" lIns="0" tIns="0" rIns="0" bIns="0" rtlCol="0" anchor="ctr"/>
          <a:lstStyle/>
          <a:p>
            <a:pPr marL="0" indent="0">
              <a:buNone/>
            </a:pPr>
            <a:r>
              <a:rPr lang="en-US" sz="1100" b="1" dirty="0">
                <a:solidFill>
                  <a:schemeClr val="bg2"/>
                </a:solidFill>
              </a:rPr>
              <a:t>Public</a:t>
            </a:r>
            <a:endParaRPr lang="en-US" sz="1100" dirty="0"/>
          </a:p>
        </p:txBody>
      </p:sp>
      <p:sp>
        <p:nvSpPr>
          <p:cNvPr id="28" name="pill125"/>
          <p:cNvSpPr txBox="1"/>
          <p:nvPr/>
        </p:nvSpPr>
        <p:spPr>
          <a:xfrm>
            <a:off x="457200" y="3419856"/>
            <a:ext cx="7772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1"/>
                </a:solidFill>
              </a:rPr>
              <a:t>POST</a:t>
            </a:r>
            <a:endParaRPr lang="en-US" sz="1000" dirty="0"/>
          </a:p>
        </p:txBody>
      </p:sp>
      <p:sp>
        <p:nvSpPr>
          <p:cNvPr id="29" name="text126"/>
          <p:cNvSpPr txBox="1"/>
          <p:nvPr/>
        </p:nvSpPr>
        <p:spPr>
          <a:xfrm>
            <a:off x="1371600" y="3392424"/>
            <a:ext cx="1645920" cy="310896"/>
          </a:xfrm>
          <a:prstGeom prst="rect">
            <a:avLst/>
          </a:prstGeom>
          <a:noFill/>
          <a:ln/>
        </p:spPr>
        <p:txBody>
          <a:bodyPr wrap="square" lIns="0" tIns="0" rIns="0" bIns="0" rtlCol="0" anchor="ctr"/>
          <a:lstStyle/>
          <a:p>
            <a:pPr marL="0" indent="0">
              <a:buNone/>
            </a:pPr>
            <a:r>
              <a:rPr lang="en-US" sz="1200" b="1" dirty="0">
                <a:solidFill>
                  <a:schemeClr val="bg1"/>
                </a:solidFill>
                <a:latin typeface="Courier New" pitchFamily="34" charset="0"/>
                <a:ea typeface="Courier New" pitchFamily="34" charset="-122"/>
                <a:cs typeface="Courier New" pitchFamily="34" charset="-120"/>
              </a:rPr>
              <a:t>/listings</a:t>
            </a:r>
            <a:endParaRPr lang="en-US" sz="1200" dirty="0"/>
          </a:p>
        </p:txBody>
      </p:sp>
      <p:sp>
        <p:nvSpPr>
          <p:cNvPr id="30" name="text127"/>
          <p:cNvSpPr txBox="1"/>
          <p:nvPr/>
        </p:nvSpPr>
        <p:spPr>
          <a:xfrm>
            <a:off x="3017520" y="3392424"/>
            <a:ext cx="1737360" cy="310896"/>
          </a:xfrm>
          <a:prstGeom prst="rect">
            <a:avLst/>
          </a:prstGeom>
          <a:noFill/>
          <a:ln/>
        </p:spPr>
        <p:txBody>
          <a:bodyPr wrap="square" lIns="0" tIns="0" rIns="0" bIns="0" rtlCol="0" anchor="ctr"/>
          <a:lstStyle/>
          <a:p>
            <a:pPr marL="0" indent="0">
              <a:buNone/>
            </a:pPr>
            <a:r>
              <a:rPr lang="en-US" sz="1200" dirty="0">
                <a:solidFill>
                  <a:schemeClr val="bg2"/>
                </a:solidFill>
              </a:rPr>
              <a:t>Create listing</a:t>
            </a:r>
            <a:endParaRPr lang="en-US" sz="1200" dirty="0"/>
          </a:p>
        </p:txBody>
      </p:sp>
      <p:sp>
        <p:nvSpPr>
          <p:cNvPr id="31" name="text128"/>
          <p:cNvSpPr txBox="1"/>
          <p:nvPr/>
        </p:nvSpPr>
        <p:spPr>
          <a:xfrm>
            <a:off x="4754880" y="3392424"/>
            <a:ext cx="640080" cy="310896"/>
          </a:xfrm>
          <a:prstGeom prst="rect">
            <a:avLst/>
          </a:prstGeom>
          <a:noFill/>
          <a:ln/>
        </p:spPr>
        <p:txBody>
          <a:bodyPr wrap="square" lIns="0" tIns="0" rIns="0" bIns="0" rtlCol="0" anchor="ctr"/>
          <a:lstStyle/>
          <a:p>
            <a:pPr marL="0" indent="0">
              <a:buNone/>
            </a:pPr>
            <a:r>
              <a:rPr lang="en-US" sz="1100" b="1" dirty="0">
                <a:solidFill>
                  <a:schemeClr val="bg1"/>
                </a:solidFill>
              </a:rPr>
              <a:t>JWT</a:t>
            </a:r>
            <a:endParaRPr lang="en-US" sz="1100" dirty="0"/>
          </a:p>
        </p:txBody>
      </p:sp>
      <p:sp>
        <p:nvSpPr>
          <p:cNvPr id="32" name="pill129"/>
          <p:cNvSpPr txBox="1"/>
          <p:nvPr/>
        </p:nvSpPr>
        <p:spPr>
          <a:xfrm>
            <a:off x="457200" y="3794760"/>
            <a:ext cx="7772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2"/>
                </a:solidFill>
              </a:rPr>
              <a:t>PUT</a:t>
            </a:r>
            <a:endParaRPr lang="en-US" sz="1000" dirty="0"/>
          </a:p>
        </p:txBody>
      </p:sp>
      <p:sp>
        <p:nvSpPr>
          <p:cNvPr id="33" name="text130"/>
          <p:cNvSpPr txBox="1"/>
          <p:nvPr/>
        </p:nvSpPr>
        <p:spPr>
          <a:xfrm>
            <a:off x="1371600" y="3767328"/>
            <a:ext cx="1645920" cy="310896"/>
          </a:xfrm>
          <a:prstGeom prst="rect">
            <a:avLst/>
          </a:prstGeom>
          <a:noFill/>
          <a:ln/>
        </p:spPr>
        <p:txBody>
          <a:bodyPr wrap="square" lIns="0" tIns="0" rIns="0" bIns="0" rtlCol="0" anchor="ctr"/>
          <a:lstStyle/>
          <a:p>
            <a:pPr marL="0" indent="0">
              <a:buNone/>
            </a:pPr>
            <a:r>
              <a:rPr lang="en-US" sz="1200" b="1" dirty="0">
                <a:solidFill>
                  <a:schemeClr val="bg1"/>
                </a:solidFill>
                <a:latin typeface="Courier New" pitchFamily="34" charset="0"/>
                <a:ea typeface="Courier New" pitchFamily="34" charset="-122"/>
                <a:cs typeface="Courier New" pitchFamily="34" charset="-120"/>
              </a:rPr>
              <a:t>/listings/:id</a:t>
            </a:r>
            <a:endParaRPr lang="en-US" sz="1200" dirty="0"/>
          </a:p>
        </p:txBody>
      </p:sp>
      <p:sp>
        <p:nvSpPr>
          <p:cNvPr id="34" name="text131"/>
          <p:cNvSpPr txBox="1"/>
          <p:nvPr/>
        </p:nvSpPr>
        <p:spPr>
          <a:xfrm>
            <a:off x="3017520" y="3767328"/>
            <a:ext cx="1737360" cy="310896"/>
          </a:xfrm>
          <a:prstGeom prst="rect">
            <a:avLst/>
          </a:prstGeom>
          <a:noFill/>
          <a:ln/>
        </p:spPr>
        <p:txBody>
          <a:bodyPr wrap="square" lIns="0" tIns="0" rIns="0" bIns="0" rtlCol="0" anchor="ctr"/>
          <a:lstStyle/>
          <a:p>
            <a:pPr marL="0" indent="0">
              <a:buNone/>
            </a:pPr>
            <a:r>
              <a:rPr lang="en-US" sz="1200" dirty="0">
                <a:solidFill>
                  <a:schemeClr val="bg2"/>
                </a:solidFill>
              </a:rPr>
              <a:t>Edit or mark sold</a:t>
            </a:r>
            <a:endParaRPr lang="en-US" sz="1200" dirty="0"/>
          </a:p>
        </p:txBody>
      </p:sp>
      <p:sp>
        <p:nvSpPr>
          <p:cNvPr id="35" name="text132"/>
          <p:cNvSpPr txBox="1"/>
          <p:nvPr/>
        </p:nvSpPr>
        <p:spPr>
          <a:xfrm>
            <a:off x="4754880" y="3767328"/>
            <a:ext cx="640080" cy="310896"/>
          </a:xfrm>
          <a:prstGeom prst="rect">
            <a:avLst/>
          </a:prstGeom>
          <a:noFill/>
          <a:ln/>
        </p:spPr>
        <p:txBody>
          <a:bodyPr wrap="square" lIns="0" tIns="0" rIns="0" bIns="0" rtlCol="0" anchor="ctr"/>
          <a:lstStyle/>
          <a:p>
            <a:pPr marL="0" indent="0">
              <a:buNone/>
            </a:pPr>
            <a:r>
              <a:rPr lang="en-US" sz="1100" b="1" dirty="0">
                <a:solidFill>
                  <a:schemeClr val="bg1"/>
                </a:solidFill>
              </a:rPr>
              <a:t>Owner</a:t>
            </a:r>
            <a:endParaRPr lang="en-US" sz="1100" dirty="0"/>
          </a:p>
        </p:txBody>
      </p:sp>
      <p:sp>
        <p:nvSpPr>
          <p:cNvPr id="36" name="pill133"/>
          <p:cNvSpPr txBox="1"/>
          <p:nvPr/>
        </p:nvSpPr>
        <p:spPr>
          <a:xfrm>
            <a:off x="457200" y="4169664"/>
            <a:ext cx="7772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5"/>
                </a:solidFill>
              </a:rPr>
              <a:t>DELETE</a:t>
            </a:r>
            <a:endParaRPr lang="en-US" sz="1000" dirty="0"/>
          </a:p>
        </p:txBody>
      </p:sp>
      <p:sp>
        <p:nvSpPr>
          <p:cNvPr id="37" name="text134"/>
          <p:cNvSpPr txBox="1"/>
          <p:nvPr/>
        </p:nvSpPr>
        <p:spPr>
          <a:xfrm>
            <a:off x="1371600" y="4142232"/>
            <a:ext cx="1645920" cy="310896"/>
          </a:xfrm>
          <a:prstGeom prst="rect">
            <a:avLst/>
          </a:prstGeom>
          <a:noFill/>
          <a:ln/>
        </p:spPr>
        <p:txBody>
          <a:bodyPr wrap="square" lIns="0" tIns="0" rIns="0" bIns="0" rtlCol="0" anchor="ctr"/>
          <a:lstStyle/>
          <a:p>
            <a:pPr marL="0" indent="0">
              <a:buNone/>
            </a:pPr>
            <a:r>
              <a:rPr lang="en-US" sz="1200" b="1" dirty="0">
                <a:solidFill>
                  <a:schemeClr val="bg1"/>
                </a:solidFill>
                <a:latin typeface="Courier New" pitchFamily="34" charset="0"/>
                <a:ea typeface="Courier New" pitchFamily="34" charset="-122"/>
                <a:cs typeface="Courier New" pitchFamily="34" charset="-120"/>
              </a:rPr>
              <a:t>/listings/:id</a:t>
            </a:r>
            <a:endParaRPr lang="en-US" sz="1200" dirty="0"/>
          </a:p>
        </p:txBody>
      </p:sp>
      <p:sp>
        <p:nvSpPr>
          <p:cNvPr id="38" name="text135"/>
          <p:cNvSpPr txBox="1"/>
          <p:nvPr/>
        </p:nvSpPr>
        <p:spPr>
          <a:xfrm>
            <a:off x="3017520" y="4142232"/>
            <a:ext cx="1737360" cy="310896"/>
          </a:xfrm>
          <a:prstGeom prst="rect">
            <a:avLst/>
          </a:prstGeom>
          <a:noFill/>
          <a:ln/>
        </p:spPr>
        <p:txBody>
          <a:bodyPr wrap="square" lIns="0" tIns="0" rIns="0" bIns="0" rtlCol="0" anchor="ctr"/>
          <a:lstStyle/>
          <a:p>
            <a:pPr marL="0" indent="0">
              <a:buNone/>
            </a:pPr>
            <a:r>
              <a:rPr lang="en-US" sz="1200" dirty="0">
                <a:solidFill>
                  <a:schemeClr val="bg2"/>
                </a:solidFill>
              </a:rPr>
              <a:t>Delete listing</a:t>
            </a:r>
            <a:endParaRPr lang="en-US" sz="1200" dirty="0"/>
          </a:p>
        </p:txBody>
      </p:sp>
      <p:sp>
        <p:nvSpPr>
          <p:cNvPr id="39" name="text136"/>
          <p:cNvSpPr txBox="1"/>
          <p:nvPr/>
        </p:nvSpPr>
        <p:spPr>
          <a:xfrm>
            <a:off x="4754880" y="4142232"/>
            <a:ext cx="640080" cy="310896"/>
          </a:xfrm>
          <a:prstGeom prst="rect">
            <a:avLst/>
          </a:prstGeom>
          <a:noFill/>
          <a:ln/>
        </p:spPr>
        <p:txBody>
          <a:bodyPr wrap="square" lIns="0" tIns="0" rIns="0" bIns="0" rtlCol="0" anchor="ctr"/>
          <a:lstStyle/>
          <a:p>
            <a:pPr marL="0" indent="0">
              <a:buNone/>
            </a:pPr>
            <a:r>
              <a:rPr lang="en-US" sz="1100" b="1" dirty="0">
                <a:solidFill>
                  <a:schemeClr val="bg1"/>
                </a:solidFill>
              </a:rPr>
              <a:t>Owner</a:t>
            </a:r>
            <a:endParaRPr lang="en-US" sz="1100" dirty="0"/>
          </a:p>
        </p:txBody>
      </p:sp>
      <p:sp>
        <p:nvSpPr>
          <p:cNvPr id="40" name="card137"/>
          <p:cNvSpPr/>
          <p:nvPr/>
        </p:nvSpPr>
        <p:spPr>
          <a:xfrm>
            <a:off x="5669280" y="1143000"/>
            <a:ext cx="3017520" cy="3383280"/>
          </a:xfrm>
          <a:prstGeom prst="roundRect">
            <a:avLst>
              <a:gd name="adj" fmla="val 3636"/>
            </a:avLst>
          </a:prstGeom>
          <a:solidFill>
            <a:schemeClr val="tx2"/>
          </a:solidFill>
          <a:ln w="9525">
            <a:solidFill>
              <a:schemeClr val="accent6"/>
            </a:solidFill>
            <a:prstDash val="solid"/>
          </a:ln>
        </p:spPr>
        <p:txBody>
          <a:bodyPr/>
          <a:lstStyle/>
          <a:p>
            <a:endParaRPr lang="en-US"/>
          </a:p>
        </p:txBody>
      </p:sp>
      <p:sp>
        <p:nvSpPr>
          <p:cNvPr id="41" name="text138"/>
          <p:cNvSpPr txBox="1"/>
          <p:nvPr/>
        </p:nvSpPr>
        <p:spPr>
          <a:xfrm>
            <a:off x="5870448" y="1298448"/>
            <a:ext cx="2651760" cy="320040"/>
          </a:xfrm>
          <a:prstGeom prst="rect">
            <a:avLst/>
          </a:prstGeom>
          <a:noFill/>
          <a:ln/>
        </p:spPr>
        <p:txBody>
          <a:bodyPr wrap="square" lIns="0" tIns="0" rIns="0" bIns="0" rtlCol="0" anchor="t"/>
          <a:lstStyle/>
          <a:p>
            <a:pPr marL="0" indent="0">
              <a:buNone/>
            </a:pPr>
            <a:r>
              <a:rPr lang="en-US" sz="1600" b="1" dirty="0">
                <a:solidFill>
                  <a:schemeClr val="bg1"/>
                </a:solidFill>
              </a:rPr>
              <a:t>Built with</a:t>
            </a:r>
            <a:endParaRPr lang="en-US" sz="1600" dirty="0"/>
          </a:p>
        </p:txBody>
      </p:sp>
      <p:sp>
        <p:nvSpPr>
          <p:cNvPr id="42" name="text139"/>
          <p:cNvSpPr txBox="1"/>
          <p:nvPr/>
        </p:nvSpPr>
        <p:spPr>
          <a:xfrm>
            <a:off x="5870448" y="1691640"/>
            <a:ext cx="2651760" cy="2743200"/>
          </a:xfrm>
          <a:prstGeom prst="rect">
            <a:avLst/>
          </a:prstGeom>
          <a:noFill/>
          <a:ln/>
        </p:spPr>
        <p:txBody>
          <a:bodyPr wrap="square" lIns="0" tIns="0" rIns="0" bIns="0" rtlCol="0" anchor="t"/>
          <a:lstStyle/>
          <a:p>
            <a:pPr marL="0" indent="0">
              <a:buNone/>
            </a:pPr>
            <a:r>
              <a:rPr lang="en-US" sz="1200" b="1" dirty="0">
                <a:solidFill>
                  <a:schemeClr val="accent2"/>
                </a:solidFill>
              </a:rPr>
              <a:t>Node.js packages</a:t>
            </a:r>
            <a:endParaRPr lang="en-US" sz="1200" dirty="0"/>
          </a:p>
          <a:p>
            <a:pPr marL="0" indent="0">
              <a:spcAft>
                <a:spcPts val="800"/>
              </a:spcAft>
              <a:buNone/>
            </a:pPr>
            <a:r>
              <a:rPr lang="en-US" sz="1200" dirty="0">
                <a:solidFill>
                  <a:schemeClr val="bg1"/>
                </a:solidFill>
              </a:rPr>
              <a:t>express, mongoose, passport, passport-local, passport-jwt, jsonwebtoken, bcrypt, cors, dotenv</a:t>
            </a:r>
            <a:endParaRPr lang="en-US" sz="1200" dirty="0"/>
          </a:p>
          <a:p>
            <a:pPr marL="0" indent="0">
              <a:buNone/>
            </a:pPr>
            <a:r>
              <a:rPr lang="en-US" sz="1200" b="1" dirty="0">
                <a:solidFill>
                  <a:schemeClr val="accent1"/>
                </a:solidFill>
              </a:rPr>
              <a:t>Cordova</a:t>
            </a:r>
            <a:endParaRPr lang="en-US" sz="1200" dirty="0"/>
          </a:p>
          <a:p>
            <a:pPr marL="0" indent="0">
              <a:spcAft>
                <a:spcPts val="800"/>
              </a:spcAft>
              <a:buNone/>
            </a:pPr>
            <a:r>
              <a:rPr lang="en-US" sz="1200" dirty="0">
                <a:solidFill>
                  <a:schemeClr val="bg1"/>
                </a:solidFill>
              </a:rPr>
              <a:t>cordova-android, cordova-plugin-camera</a:t>
            </a:r>
            <a:endParaRPr lang="en-US" sz="1200" dirty="0"/>
          </a:p>
          <a:p>
            <a:pPr marL="0" indent="0">
              <a:buNone/>
            </a:pPr>
            <a:r>
              <a:rPr lang="en-US" sz="1200" b="1" dirty="0">
                <a:solidFill>
                  <a:schemeClr val="accent3"/>
                </a:solidFill>
              </a:rPr>
              <a:t>Client libraries</a:t>
            </a:r>
            <a:endParaRPr lang="en-US" sz="1200" dirty="0"/>
          </a:p>
          <a:p>
            <a:pPr marL="0" indent="0">
              <a:spcAft>
                <a:spcPts val="800"/>
              </a:spcAft>
              <a:buNone/>
            </a:pPr>
            <a:r>
              <a:rPr lang="en-US" sz="1200" dirty="0">
                <a:solidFill>
                  <a:schemeClr val="bg1"/>
                </a:solidFill>
              </a:rPr>
              <a:t>jQuery 2.2.4, jQuery Mobile 1.4.5</a:t>
            </a:r>
            <a:endParaRPr lang="en-US" sz="1200" dirty="0"/>
          </a:p>
          <a:p>
            <a:pPr marL="0" indent="0">
              <a:buNone/>
            </a:pPr>
            <a:r>
              <a:rPr lang="en-US" sz="1200" b="1" dirty="0">
                <a:solidFill>
                  <a:schemeClr val="accent4"/>
                </a:solidFill>
              </a:rPr>
              <a:t>Tooling</a:t>
            </a:r>
            <a:endParaRPr lang="en-US" sz="1200" dirty="0"/>
          </a:p>
          <a:p>
            <a:pPr marL="0" indent="0">
              <a:buNone/>
            </a:pPr>
            <a:r>
              <a:rPr lang="en-US" sz="1200" dirty="0">
                <a:solidFill>
                  <a:schemeClr val="bg1"/>
                </a:solidFill>
              </a:rPr>
              <a:t>GitHub with CI, Vitest, Supertest, Docker</a:t>
            </a:r>
            <a:endParaRPr lang="en-US" sz="1200" dirty="0"/>
          </a:p>
        </p:txBody>
      </p:sp>
      <p:sp>
        <p:nvSpPr>
          <p:cNvPr id="43"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Test results (preliminary)</a:t>
            </a:r>
            <a:endParaRPr lang="en-US" sz="3000" dirty="0"/>
          </a:p>
        </p:txBody>
      </p:sp>
      <p:sp>
        <p:nvSpPr>
          <p:cNvPr id="3" name="text140"/>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Five flows tested — screenshots on the next slides</a:t>
            </a:r>
            <a:endParaRPr lang="en-US" sz="1400" dirty="0"/>
          </a:p>
        </p:txBody>
      </p:sp>
      <p:sp>
        <p:nvSpPr>
          <p:cNvPr id="4" name="card141"/>
          <p:cNvSpPr/>
          <p:nvPr/>
        </p:nvSpPr>
        <p:spPr>
          <a:xfrm>
            <a:off x="457200" y="1143000"/>
            <a:ext cx="2624328" cy="1645920"/>
          </a:xfrm>
          <a:prstGeom prst="roundRect">
            <a:avLst>
              <a:gd name="adj" fmla="val 6667"/>
            </a:avLst>
          </a:prstGeom>
          <a:solidFill>
            <a:schemeClr val="tx2"/>
          </a:solidFill>
          <a:ln w="9525">
            <a:solidFill>
              <a:schemeClr val="accent6"/>
            </a:solidFill>
            <a:prstDash val="solid"/>
          </a:ln>
        </p:spPr>
        <p:txBody>
          <a:bodyPr/>
          <a:lstStyle/>
          <a:p>
            <a:endParaRPr lang="en-US"/>
          </a:p>
        </p:txBody>
      </p:sp>
      <p:sp>
        <p:nvSpPr>
          <p:cNvPr id="5" name="dot142"/>
          <p:cNvSpPr txBox="1"/>
          <p:nvPr/>
        </p:nvSpPr>
        <p:spPr>
          <a:xfrm>
            <a:off x="658368" y="1344168"/>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1</a:t>
            </a:r>
            <a:endParaRPr lang="en-US" sz="1400" dirty="0"/>
          </a:p>
        </p:txBody>
      </p:sp>
      <p:sp>
        <p:nvSpPr>
          <p:cNvPr id="6" name="text143"/>
          <p:cNvSpPr txBox="1"/>
          <p:nvPr/>
        </p:nvSpPr>
        <p:spPr>
          <a:xfrm>
            <a:off x="1170432" y="1344168"/>
            <a:ext cx="1783080" cy="384048"/>
          </a:xfrm>
          <a:prstGeom prst="rect">
            <a:avLst/>
          </a:prstGeom>
          <a:noFill/>
          <a:ln/>
        </p:spPr>
        <p:txBody>
          <a:bodyPr wrap="square" lIns="0" tIns="0" rIns="0" bIns="0" rtlCol="0" anchor="ctr"/>
          <a:lstStyle/>
          <a:p>
            <a:pPr marL="0" indent="0">
              <a:buNone/>
            </a:pPr>
            <a:r>
              <a:rPr lang="en-US" sz="1500" b="1" dirty="0">
                <a:solidFill>
                  <a:schemeClr val="bg1"/>
                </a:solidFill>
              </a:rPr>
              <a:t>Sign up / Login</a:t>
            </a:r>
            <a:endParaRPr lang="en-US" sz="1500" dirty="0"/>
          </a:p>
        </p:txBody>
      </p:sp>
      <p:sp>
        <p:nvSpPr>
          <p:cNvPr id="7" name="text144"/>
          <p:cNvSpPr txBox="1"/>
          <p:nvPr/>
        </p:nvSpPr>
        <p:spPr>
          <a:xfrm>
            <a:off x="658368" y="1892808"/>
            <a:ext cx="2221992" cy="274320"/>
          </a:xfrm>
          <a:prstGeom prst="rect">
            <a:avLst/>
          </a:prstGeom>
          <a:noFill/>
          <a:ln/>
        </p:spPr>
        <p:txBody>
          <a:bodyPr wrap="square" lIns="0" tIns="0" rIns="0" bIns="0" rtlCol="0" anchor="t"/>
          <a:lstStyle/>
          <a:p>
            <a:pPr marL="0" indent="0">
              <a:buNone/>
            </a:pPr>
            <a:r>
              <a:rPr lang="en-US" sz="1300" dirty="0">
                <a:solidFill>
                  <a:schemeClr val="bg2"/>
                </a:solidFill>
              </a:rPr>
              <a:t>Auth screens</a:t>
            </a:r>
            <a:endParaRPr lang="en-US" sz="1300" dirty="0"/>
          </a:p>
        </p:txBody>
      </p:sp>
      <p:sp>
        <p:nvSpPr>
          <p:cNvPr id="8" name="pill145"/>
          <p:cNvSpPr txBox="1"/>
          <p:nvPr/>
        </p:nvSpPr>
        <p:spPr>
          <a:xfrm>
            <a:off x="658368" y="2331720"/>
            <a:ext cx="2221992"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3"/>
                </a:solidFill>
              </a:rPr>
              <a:t>SCREENSHOT INCLUDED</a:t>
            </a:r>
            <a:endParaRPr lang="en-US" sz="1000" dirty="0"/>
          </a:p>
        </p:txBody>
      </p:sp>
      <p:sp>
        <p:nvSpPr>
          <p:cNvPr id="9" name="card146"/>
          <p:cNvSpPr/>
          <p:nvPr/>
        </p:nvSpPr>
        <p:spPr>
          <a:xfrm>
            <a:off x="3264408" y="1143000"/>
            <a:ext cx="2624328" cy="1645920"/>
          </a:xfrm>
          <a:prstGeom prst="roundRect">
            <a:avLst>
              <a:gd name="adj" fmla="val 6667"/>
            </a:avLst>
          </a:prstGeom>
          <a:solidFill>
            <a:schemeClr val="tx2"/>
          </a:solidFill>
          <a:ln w="9525">
            <a:solidFill>
              <a:schemeClr val="accent6"/>
            </a:solidFill>
            <a:prstDash val="solid"/>
          </a:ln>
        </p:spPr>
        <p:txBody>
          <a:bodyPr/>
          <a:lstStyle/>
          <a:p>
            <a:endParaRPr lang="en-US"/>
          </a:p>
        </p:txBody>
      </p:sp>
      <p:sp>
        <p:nvSpPr>
          <p:cNvPr id="10" name="dot147"/>
          <p:cNvSpPr txBox="1"/>
          <p:nvPr/>
        </p:nvSpPr>
        <p:spPr>
          <a:xfrm>
            <a:off x="3465576" y="1344168"/>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2</a:t>
            </a:r>
            <a:endParaRPr lang="en-US" sz="1400" dirty="0"/>
          </a:p>
        </p:txBody>
      </p:sp>
      <p:sp>
        <p:nvSpPr>
          <p:cNvPr id="11" name="text148"/>
          <p:cNvSpPr txBox="1"/>
          <p:nvPr/>
        </p:nvSpPr>
        <p:spPr>
          <a:xfrm>
            <a:off x="3977640" y="1344168"/>
            <a:ext cx="1783080" cy="384048"/>
          </a:xfrm>
          <a:prstGeom prst="rect">
            <a:avLst/>
          </a:prstGeom>
          <a:noFill/>
          <a:ln/>
        </p:spPr>
        <p:txBody>
          <a:bodyPr wrap="square" lIns="0" tIns="0" rIns="0" bIns="0" rtlCol="0" anchor="ctr"/>
          <a:lstStyle/>
          <a:p>
            <a:pPr marL="0" indent="0">
              <a:buNone/>
            </a:pPr>
            <a:r>
              <a:rPr lang="en-US" sz="1500" b="1" dirty="0">
                <a:solidFill>
                  <a:schemeClr val="bg1"/>
                </a:solidFill>
              </a:rPr>
              <a:t>Browse listings</a:t>
            </a:r>
            <a:endParaRPr lang="en-US" sz="1500" dirty="0"/>
          </a:p>
        </p:txBody>
      </p:sp>
      <p:sp>
        <p:nvSpPr>
          <p:cNvPr id="12" name="text149"/>
          <p:cNvSpPr txBox="1"/>
          <p:nvPr/>
        </p:nvSpPr>
        <p:spPr>
          <a:xfrm>
            <a:off x="3465576" y="1892808"/>
            <a:ext cx="2221992" cy="274320"/>
          </a:xfrm>
          <a:prstGeom prst="rect">
            <a:avLst/>
          </a:prstGeom>
          <a:noFill/>
          <a:ln/>
        </p:spPr>
        <p:txBody>
          <a:bodyPr wrap="square" lIns="0" tIns="0" rIns="0" bIns="0" rtlCol="0" anchor="t"/>
          <a:lstStyle/>
          <a:p>
            <a:pPr marL="0" indent="0">
              <a:buNone/>
            </a:pPr>
            <a:r>
              <a:rPr lang="en-US" sz="1300" dirty="0">
                <a:solidFill>
                  <a:schemeClr val="bg2"/>
                </a:solidFill>
              </a:rPr>
              <a:t>GET list + filters</a:t>
            </a:r>
            <a:endParaRPr lang="en-US" sz="1300" dirty="0"/>
          </a:p>
        </p:txBody>
      </p:sp>
      <p:sp>
        <p:nvSpPr>
          <p:cNvPr id="13" name="pill150"/>
          <p:cNvSpPr txBox="1"/>
          <p:nvPr/>
        </p:nvSpPr>
        <p:spPr>
          <a:xfrm>
            <a:off x="3465576" y="2331720"/>
            <a:ext cx="2221992"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3"/>
                </a:solidFill>
              </a:rPr>
              <a:t>SCREENSHOT INCLUDED</a:t>
            </a:r>
            <a:endParaRPr lang="en-US" sz="1000" dirty="0"/>
          </a:p>
        </p:txBody>
      </p:sp>
      <p:sp>
        <p:nvSpPr>
          <p:cNvPr id="14" name="card151"/>
          <p:cNvSpPr/>
          <p:nvPr/>
        </p:nvSpPr>
        <p:spPr>
          <a:xfrm>
            <a:off x="6071616" y="1143000"/>
            <a:ext cx="2624328" cy="1645920"/>
          </a:xfrm>
          <a:prstGeom prst="roundRect">
            <a:avLst>
              <a:gd name="adj" fmla="val 6667"/>
            </a:avLst>
          </a:prstGeom>
          <a:solidFill>
            <a:schemeClr val="tx2"/>
          </a:solidFill>
          <a:ln w="9525">
            <a:solidFill>
              <a:schemeClr val="accent6"/>
            </a:solidFill>
            <a:prstDash val="solid"/>
          </a:ln>
        </p:spPr>
        <p:txBody>
          <a:bodyPr/>
          <a:lstStyle/>
          <a:p>
            <a:endParaRPr lang="en-US"/>
          </a:p>
        </p:txBody>
      </p:sp>
      <p:sp>
        <p:nvSpPr>
          <p:cNvPr id="15" name="dot152"/>
          <p:cNvSpPr txBox="1"/>
          <p:nvPr/>
        </p:nvSpPr>
        <p:spPr>
          <a:xfrm>
            <a:off x="6272784" y="1344168"/>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3</a:t>
            </a:r>
            <a:endParaRPr lang="en-US" sz="1400" dirty="0"/>
          </a:p>
        </p:txBody>
      </p:sp>
      <p:sp>
        <p:nvSpPr>
          <p:cNvPr id="16" name="text153"/>
          <p:cNvSpPr txBox="1"/>
          <p:nvPr/>
        </p:nvSpPr>
        <p:spPr>
          <a:xfrm>
            <a:off x="6784848" y="1344168"/>
            <a:ext cx="1783080" cy="384048"/>
          </a:xfrm>
          <a:prstGeom prst="rect">
            <a:avLst/>
          </a:prstGeom>
          <a:noFill/>
          <a:ln/>
        </p:spPr>
        <p:txBody>
          <a:bodyPr wrap="square" lIns="0" tIns="0" rIns="0" bIns="0" rtlCol="0" anchor="ctr"/>
          <a:lstStyle/>
          <a:p>
            <a:pPr marL="0" indent="0">
              <a:buNone/>
            </a:pPr>
            <a:r>
              <a:rPr lang="en-US" sz="1500" b="1" dirty="0">
                <a:solidFill>
                  <a:schemeClr val="bg1"/>
                </a:solidFill>
              </a:rPr>
              <a:t>Create listing</a:t>
            </a:r>
            <a:endParaRPr lang="en-US" sz="1500" dirty="0"/>
          </a:p>
        </p:txBody>
      </p:sp>
      <p:sp>
        <p:nvSpPr>
          <p:cNvPr id="17" name="text154"/>
          <p:cNvSpPr txBox="1"/>
          <p:nvPr/>
        </p:nvSpPr>
        <p:spPr>
          <a:xfrm>
            <a:off x="6272784" y="1892808"/>
            <a:ext cx="2221992" cy="274320"/>
          </a:xfrm>
          <a:prstGeom prst="rect">
            <a:avLst/>
          </a:prstGeom>
          <a:noFill/>
          <a:ln/>
        </p:spPr>
        <p:txBody>
          <a:bodyPr wrap="square" lIns="0" tIns="0" rIns="0" bIns="0" rtlCol="0" anchor="t"/>
          <a:lstStyle/>
          <a:p>
            <a:pPr marL="0" indent="0">
              <a:buNone/>
            </a:pPr>
            <a:r>
              <a:rPr lang="en-US" sz="1300" dirty="0">
                <a:solidFill>
                  <a:schemeClr val="bg2"/>
                </a:solidFill>
              </a:rPr>
              <a:t>POST + camera/file</a:t>
            </a:r>
            <a:endParaRPr lang="en-US" sz="1300" dirty="0"/>
          </a:p>
        </p:txBody>
      </p:sp>
      <p:sp>
        <p:nvSpPr>
          <p:cNvPr id="18" name="pill155"/>
          <p:cNvSpPr txBox="1"/>
          <p:nvPr/>
        </p:nvSpPr>
        <p:spPr>
          <a:xfrm>
            <a:off x="6272784" y="2331720"/>
            <a:ext cx="2221992"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3"/>
                </a:solidFill>
              </a:rPr>
              <a:t>SCREENSHOT INCLUDED</a:t>
            </a:r>
            <a:endParaRPr lang="en-US" sz="1000" dirty="0"/>
          </a:p>
        </p:txBody>
      </p:sp>
      <p:sp>
        <p:nvSpPr>
          <p:cNvPr id="19" name="card156"/>
          <p:cNvSpPr/>
          <p:nvPr/>
        </p:nvSpPr>
        <p:spPr>
          <a:xfrm>
            <a:off x="457200" y="2880360"/>
            <a:ext cx="4023360" cy="1645920"/>
          </a:xfrm>
          <a:prstGeom prst="roundRect">
            <a:avLst>
              <a:gd name="adj" fmla="val 6667"/>
            </a:avLst>
          </a:prstGeom>
          <a:solidFill>
            <a:schemeClr val="tx2"/>
          </a:solidFill>
          <a:ln w="9525">
            <a:solidFill>
              <a:schemeClr val="accent6"/>
            </a:solidFill>
            <a:prstDash val="solid"/>
          </a:ln>
        </p:spPr>
        <p:txBody>
          <a:bodyPr/>
          <a:lstStyle/>
          <a:p>
            <a:endParaRPr lang="en-US"/>
          </a:p>
        </p:txBody>
      </p:sp>
      <p:sp>
        <p:nvSpPr>
          <p:cNvPr id="20" name="dot157"/>
          <p:cNvSpPr txBox="1"/>
          <p:nvPr/>
        </p:nvSpPr>
        <p:spPr>
          <a:xfrm>
            <a:off x="658368" y="3081528"/>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4</a:t>
            </a:r>
            <a:endParaRPr lang="en-US" sz="1400" dirty="0"/>
          </a:p>
        </p:txBody>
      </p:sp>
      <p:sp>
        <p:nvSpPr>
          <p:cNvPr id="21" name="text158"/>
          <p:cNvSpPr txBox="1"/>
          <p:nvPr/>
        </p:nvSpPr>
        <p:spPr>
          <a:xfrm>
            <a:off x="1170432" y="3081528"/>
            <a:ext cx="3182112" cy="384048"/>
          </a:xfrm>
          <a:prstGeom prst="rect">
            <a:avLst/>
          </a:prstGeom>
          <a:noFill/>
          <a:ln/>
        </p:spPr>
        <p:txBody>
          <a:bodyPr wrap="square" lIns="0" tIns="0" rIns="0" bIns="0" rtlCol="0" anchor="ctr"/>
          <a:lstStyle/>
          <a:p>
            <a:pPr marL="0" indent="0">
              <a:buNone/>
            </a:pPr>
            <a:r>
              <a:rPr lang="en-US" sz="1500" b="1" dirty="0">
                <a:solidFill>
                  <a:schemeClr val="bg1"/>
                </a:solidFill>
              </a:rPr>
              <a:t>Edit / Sold / Delete</a:t>
            </a:r>
            <a:endParaRPr lang="en-US" sz="1500" dirty="0"/>
          </a:p>
        </p:txBody>
      </p:sp>
      <p:sp>
        <p:nvSpPr>
          <p:cNvPr id="22" name="text159"/>
          <p:cNvSpPr txBox="1"/>
          <p:nvPr/>
        </p:nvSpPr>
        <p:spPr>
          <a:xfrm>
            <a:off x="658368" y="3630168"/>
            <a:ext cx="3621024" cy="274320"/>
          </a:xfrm>
          <a:prstGeom prst="rect">
            <a:avLst/>
          </a:prstGeom>
          <a:noFill/>
          <a:ln/>
        </p:spPr>
        <p:txBody>
          <a:bodyPr wrap="square" lIns="0" tIns="0" rIns="0" bIns="0" rtlCol="0" anchor="t"/>
          <a:lstStyle/>
          <a:p>
            <a:pPr marL="0" indent="0">
              <a:buNone/>
            </a:pPr>
            <a:r>
              <a:rPr lang="en-US" sz="1300" dirty="0">
                <a:solidFill>
                  <a:schemeClr val="bg2"/>
                </a:solidFill>
              </a:rPr>
              <a:t>PUT + DELETE</a:t>
            </a:r>
            <a:endParaRPr lang="en-US" sz="1300" dirty="0"/>
          </a:p>
        </p:txBody>
      </p:sp>
      <p:sp>
        <p:nvSpPr>
          <p:cNvPr id="23" name="pill160"/>
          <p:cNvSpPr txBox="1"/>
          <p:nvPr/>
        </p:nvSpPr>
        <p:spPr>
          <a:xfrm>
            <a:off x="658368" y="4069080"/>
            <a:ext cx="2221992"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3"/>
                </a:solidFill>
              </a:rPr>
              <a:t>SCREENSHOT INCLUDED</a:t>
            </a:r>
            <a:endParaRPr lang="en-US" sz="1000" dirty="0"/>
          </a:p>
        </p:txBody>
      </p:sp>
      <p:sp>
        <p:nvSpPr>
          <p:cNvPr id="24" name="card161"/>
          <p:cNvSpPr/>
          <p:nvPr/>
        </p:nvSpPr>
        <p:spPr>
          <a:xfrm>
            <a:off x="4663440" y="2880360"/>
            <a:ext cx="4023360" cy="1645920"/>
          </a:xfrm>
          <a:prstGeom prst="roundRect">
            <a:avLst>
              <a:gd name="adj" fmla="val 6667"/>
            </a:avLst>
          </a:prstGeom>
          <a:solidFill>
            <a:schemeClr val="tx2"/>
          </a:solidFill>
          <a:ln w="9525">
            <a:solidFill>
              <a:schemeClr val="accent6"/>
            </a:solidFill>
            <a:prstDash val="solid"/>
          </a:ln>
        </p:spPr>
        <p:txBody>
          <a:bodyPr/>
          <a:lstStyle/>
          <a:p>
            <a:endParaRPr lang="en-US"/>
          </a:p>
        </p:txBody>
      </p:sp>
      <p:sp>
        <p:nvSpPr>
          <p:cNvPr id="25" name="dot162"/>
          <p:cNvSpPr txBox="1"/>
          <p:nvPr/>
        </p:nvSpPr>
        <p:spPr>
          <a:xfrm>
            <a:off x="4864608" y="3081528"/>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5</a:t>
            </a:r>
            <a:endParaRPr lang="en-US" sz="1400" dirty="0"/>
          </a:p>
        </p:txBody>
      </p:sp>
      <p:sp>
        <p:nvSpPr>
          <p:cNvPr id="26" name="text163"/>
          <p:cNvSpPr txBox="1"/>
          <p:nvPr/>
        </p:nvSpPr>
        <p:spPr>
          <a:xfrm>
            <a:off x="5376672" y="3081528"/>
            <a:ext cx="3182112" cy="384048"/>
          </a:xfrm>
          <a:prstGeom prst="rect">
            <a:avLst/>
          </a:prstGeom>
          <a:noFill/>
          <a:ln/>
        </p:spPr>
        <p:txBody>
          <a:bodyPr wrap="square" lIns="0" tIns="0" rIns="0" bIns="0" rtlCol="0" anchor="ctr"/>
          <a:lstStyle/>
          <a:p>
            <a:pPr marL="0" indent="0">
              <a:buNone/>
            </a:pPr>
            <a:r>
              <a:rPr lang="en-US" sz="1500" b="1" dirty="0">
                <a:solidFill>
                  <a:schemeClr val="bg1"/>
                </a:solidFill>
              </a:rPr>
              <a:t>Profile / My listings</a:t>
            </a:r>
            <a:endParaRPr lang="en-US" sz="1500" dirty="0"/>
          </a:p>
        </p:txBody>
      </p:sp>
      <p:sp>
        <p:nvSpPr>
          <p:cNvPr id="27" name="text164"/>
          <p:cNvSpPr txBox="1"/>
          <p:nvPr/>
        </p:nvSpPr>
        <p:spPr>
          <a:xfrm>
            <a:off x="4864608" y="3630168"/>
            <a:ext cx="3621024" cy="274320"/>
          </a:xfrm>
          <a:prstGeom prst="rect">
            <a:avLst/>
          </a:prstGeom>
          <a:noFill/>
          <a:ln/>
        </p:spPr>
        <p:txBody>
          <a:bodyPr wrap="square" lIns="0" tIns="0" rIns="0" bIns="0" rtlCol="0" anchor="t"/>
          <a:lstStyle/>
          <a:p>
            <a:pPr marL="0" indent="0">
              <a:buNone/>
            </a:pPr>
            <a:r>
              <a:rPr lang="en-US" sz="1300" dirty="0">
                <a:solidFill>
                  <a:schemeClr val="bg2"/>
                </a:solidFill>
              </a:rPr>
              <a:t>GET me + owned</a:t>
            </a:r>
            <a:endParaRPr lang="en-US" sz="1300" dirty="0"/>
          </a:p>
        </p:txBody>
      </p:sp>
      <p:sp>
        <p:nvSpPr>
          <p:cNvPr id="28" name="pill165"/>
          <p:cNvSpPr txBox="1"/>
          <p:nvPr/>
        </p:nvSpPr>
        <p:spPr>
          <a:xfrm>
            <a:off x="4864608" y="4069080"/>
            <a:ext cx="2221992"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3"/>
                </a:solidFill>
              </a:rPr>
              <a:t>SCREENSHOT INCLUDED</a:t>
            </a:r>
            <a:endParaRPr lang="en-US" sz="1000" dirty="0"/>
          </a:p>
        </p:txBody>
      </p:sp>
      <p:sp>
        <p:nvSpPr>
          <p:cNvPr id="29"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How we tested</a:t>
            </a:r>
            <a:endParaRPr lang="en-US" sz="3000" dirty="0"/>
          </a:p>
        </p:txBody>
      </p:sp>
      <p:sp>
        <p:nvSpPr>
          <p:cNvPr id="3" name="text166"/>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Automated + manual (preliminary)</a:t>
            </a:r>
            <a:endParaRPr lang="en-US" sz="1400" dirty="0"/>
          </a:p>
        </p:txBody>
      </p:sp>
      <p:sp>
        <p:nvSpPr>
          <p:cNvPr id="4" name="card167"/>
          <p:cNvSpPr/>
          <p:nvPr/>
        </p:nvSpPr>
        <p:spPr>
          <a:xfrm>
            <a:off x="457200" y="1143000"/>
            <a:ext cx="8229600" cy="487680"/>
          </a:xfrm>
          <a:prstGeom prst="roundRect">
            <a:avLst>
              <a:gd name="adj" fmla="val 22500"/>
            </a:avLst>
          </a:prstGeom>
          <a:solidFill>
            <a:schemeClr val="tx2"/>
          </a:solidFill>
          <a:ln w="9525">
            <a:solidFill>
              <a:schemeClr val="accent6"/>
            </a:solidFill>
            <a:prstDash val="solid"/>
          </a:ln>
        </p:spPr>
        <p:txBody>
          <a:bodyPr/>
          <a:lstStyle/>
          <a:p>
            <a:endParaRPr lang="en-US"/>
          </a:p>
        </p:txBody>
      </p:sp>
      <p:sp>
        <p:nvSpPr>
          <p:cNvPr id="5" name="pill168"/>
          <p:cNvSpPr txBox="1"/>
          <p:nvPr/>
        </p:nvSpPr>
        <p:spPr>
          <a:xfrm>
            <a:off x="640080" y="1258824"/>
            <a:ext cx="14630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1"/>
                </a:solidFill>
              </a:rPr>
              <a:t>BACKEND</a:t>
            </a:r>
            <a:endParaRPr lang="en-US" sz="1000" dirty="0"/>
          </a:p>
        </p:txBody>
      </p:sp>
      <p:sp>
        <p:nvSpPr>
          <p:cNvPr id="6" name="text169"/>
          <p:cNvSpPr txBox="1"/>
          <p:nvPr/>
        </p:nvSpPr>
        <p:spPr>
          <a:xfrm>
            <a:off x="2331720" y="1143000"/>
            <a:ext cx="6172200" cy="487680"/>
          </a:xfrm>
          <a:prstGeom prst="rect">
            <a:avLst/>
          </a:prstGeom>
          <a:noFill/>
          <a:ln/>
        </p:spPr>
        <p:txBody>
          <a:bodyPr wrap="square" lIns="0" tIns="0" rIns="0" bIns="0" rtlCol="0" anchor="ctr"/>
          <a:lstStyle/>
          <a:p>
            <a:pPr marL="0" indent="0">
              <a:buNone/>
            </a:pPr>
            <a:r>
              <a:rPr lang="en-US" sz="1400" dirty="0">
                <a:solidFill>
                  <a:schemeClr val="bg1"/>
                </a:solidFill>
              </a:rPr>
              <a:t>Vitest + Supertest — user router &amp; listing CRUD (CI on every PR)</a:t>
            </a:r>
            <a:endParaRPr lang="en-US" sz="1400" dirty="0"/>
          </a:p>
        </p:txBody>
      </p:sp>
      <p:sp>
        <p:nvSpPr>
          <p:cNvPr id="7" name="card170"/>
          <p:cNvSpPr/>
          <p:nvPr/>
        </p:nvSpPr>
        <p:spPr>
          <a:xfrm>
            <a:off x="457200" y="1722120"/>
            <a:ext cx="8229600" cy="487680"/>
          </a:xfrm>
          <a:prstGeom prst="roundRect">
            <a:avLst>
              <a:gd name="adj" fmla="val 22500"/>
            </a:avLst>
          </a:prstGeom>
          <a:solidFill>
            <a:schemeClr val="tx2"/>
          </a:solidFill>
          <a:ln w="9525">
            <a:solidFill>
              <a:schemeClr val="accent6"/>
            </a:solidFill>
            <a:prstDash val="solid"/>
          </a:ln>
        </p:spPr>
        <p:txBody>
          <a:bodyPr/>
          <a:lstStyle/>
          <a:p>
            <a:endParaRPr lang="en-US"/>
          </a:p>
        </p:txBody>
      </p:sp>
      <p:sp>
        <p:nvSpPr>
          <p:cNvPr id="8" name="pill171"/>
          <p:cNvSpPr txBox="1"/>
          <p:nvPr/>
        </p:nvSpPr>
        <p:spPr>
          <a:xfrm>
            <a:off x="640080" y="1837944"/>
            <a:ext cx="14630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3"/>
                </a:solidFill>
              </a:rPr>
              <a:t>MANUAL UI</a:t>
            </a:r>
            <a:endParaRPr lang="en-US" sz="1000" dirty="0"/>
          </a:p>
        </p:txBody>
      </p:sp>
      <p:sp>
        <p:nvSpPr>
          <p:cNvPr id="9" name="text172"/>
          <p:cNvSpPr txBox="1"/>
          <p:nvPr/>
        </p:nvSpPr>
        <p:spPr>
          <a:xfrm>
            <a:off x="2331720" y="1722120"/>
            <a:ext cx="6172200" cy="487680"/>
          </a:xfrm>
          <a:prstGeom prst="rect">
            <a:avLst/>
          </a:prstGeom>
          <a:noFill/>
          <a:ln/>
        </p:spPr>
        <p:txBody>
          <a:bodyPr wrap="square" lIns="0" tIns="0" rIns="0" bIns="0" rtlCol="0" anchor="ctr"/>
          <a:lstStyle/>
          <a:p>
            <a:pPr marL="0" indent="0">
              <a:buNone/>
            </a:pPr>
            <a:r>
              <a:rPr lang="en-US" sz="1400" dirty="0">
                <a:solidFill>
                  <a:schemeClr val="bg1"/>
                </a:solidFill>
              </a:rPr>
              <a:t>Browser against Docker Compose API (localhost:3100)</a:t>
            </a:r>
            <a:endParaRPr lang="en-US" sz="1400" dirty="0"/>
          </a:p>
        </p:txBody>
      </p:sp>
      <p:sp>
        <p:nvSpPr>
          <p:cNvPr id="10" name="card173"/>
          <p:cNvSpPr/>
          <p:nvPr/>
        </p:nvSpPr>
        <p:spPr>
          <a:xfrm>
            <a:off x="457200" y="2301240"/>
            <a:ext cx="8229600" cy="487680"/>
          </a:xfrm>
          <a:prstGeom prst="roundRect">
            <a:avLst>
              <a:gd name="adj" fmla="val 22500"/>
            </a:avLst>
          </a:prstGeom>
          <a:solidFill>
            <a:schemeClr val="tx2"/>
          </a:solidFill>
          <a:ln w="9525">
            <a:solidFill>
              <a:schemeClr val="accent6"/>
            </a:solidFill>
            <a:prstDash val="solid"/>
          </a:ln>
        </p:spPr>
        <p:txBody>
          <a:bodyPr/>
          <a:lstStyle/>
          <a:p>
            <a:endParaRPr lang="en-US"/>
          </a:p>
        </p:txBody>
      </p:sp>
      <p:sp>
        <p:nvSpPr>
          <p:cNvPr id="11" name="pill174"/>
          <p:cNvSpPr txBox="1"/>
          <p:nvPr/>
        </p:nvSpPr>
        <p:spPr>
          <a:xfrm>
            <a:off x="640080" y="2417064"/>
            <a:ext cx="14630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2"/>
                </a:solidFill>
              </a:rPr>
              <a:t>AUTH</a:t>
            </a:r>
            <a:endParaRPr lang="en-US" sz="1000" dirty="0"/>
          </a:p>
        </p:txBody>
      </p:sp>
      <p:sp>
        <p:nvSpPr>
          <p:cNvPr id="12" name="text175"/>
          <p:cNvSpPr txBox="1"/>
          <p:nvPr/>
        </p:nvSpPr>
        <p:spPr>
          <a:xfrm>
            <a:off x="2331720" y="2301240"/>
            <a:ext cx="6172200" cy="487680"/>
          </a:xfrm>
          <a:prstGeom prst="rect">
            <a:avLst/>
          </a:prstGeom>
          <a:noFill/>
          <a:ln/>
        </p:spPr>
        <p:txBody>
          <a:bodyPr wrap="square" lIns="0" tIns="0" rIns="0" bIns="0" rtlCol="0" anchor="ctr"/>
          <a:lstStyle/>
          <a:p>
            <a:pPr marL="0" indent="0">
              <a:buNone/>
            </a:pPr>
            <a:r>
              <a:rPr lang="en-US" sz="1400" dirty="0">
                <a:solidFill>
                  <a:schemeClr val="bg1"/>
                </a:solidFill>
              </a:rPr>
              <a:t>Signup validation, login failure message, logout clears token</a:t>
            </a:r>
            <a:endParaRPr lang="en-US" sz="1400" dirty="0"/>
          </a:p>
        </p:txBody>
      </p:sp>
      <p:sp>
        <p:nvSpPr>
          <p:cNvPr id="13" name="card176"/>
          <p:cNvSpPr/>
          <p:nvPr/>
        </p:nvSpPr>
        <p:spPr>
          <a:xfrm>
            <a:off x="457200" y="2880360"/>
            <a:ext cx="8229600" cy="487680"/>
          </a:xfrm>
          <a:prstGeom prst="roundRect">
            <a:avLst>
              <a:gd name="adj" fmla="val 22500"/>
            </a:avLst>
          </a:prstGeom>
          <a:solidFill>
            <a:schemeClr val="tx2"/>
          </a:solidFill>
          <a:ln w="9525">
            <a:solidFill>
              <a:schemeClr val="accent6"/>
            </a:solidFill>
            <a:prstDash val="solid"/>
          </a:ln>
        </p:spPr>
        <p:txBody>
          <a:bodyPr/>
          <a:lstStyle/>
          <a:p>
            <a:endParaRPr lang="en-US"/>
          </a:p>
        </p:txBody>
      </p:sp>
      <p:sp>
        <p:nvSpPr>
          <p:cNvPr id="14" name="pill177"/>
          <p:cNvSpPr txBox="1"/>
          <p:nvPr/>
        </p:nvSpPr>
        <p:spPr>
          <a:xfrm>
            <a:off x="640080" y="2996184"/>
            <a:ext cx="14630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2"/>
                </a:solidFill>
              </a:rPr>
              <a:t>LISTINGS</a:t>
            </a:r>
            <a:endParaRPr lang="en-US" sz="1000" dirty="0"/>
          </a:p>
        </p:txBody>
      </p:sp>
      <p:sp>
        <p:nvSpPr>
          <p:cNvPr id="15" name="text178"/>
          <p:cNvSpPr txBox="1"/>
          <p:nvPr/>
        </p:nvSpPr>
        <p:spPr>
          <a:xfrm>
            <a:off x="2331720" y="2880360"/>
            <a:ext cx="6172200" cy="487680"/>
          </a:xfrm>
          <a:prstGeom prst="rect">
            <a:avLst/>
          </a:prstGeom>
          <a:noFill/>
          <a:ln/>
        </p:spPr>
        <p:txBody>
          <a:bodyPr wrap="square" lIns="0" tIns="0" rIns="0" bIns="0" rtlCol="0" anchor="ctr"/>
          <a:lstStyle/>
          <a:p>
            <a:pPr marL="0" indent="0">
              <a:buNone/>
            </a:pPr>
            <a:r>
              <a:rPr lang="en-US" sz="1400" dirty="0">
                <a:solidFill>
                  <a:schemeClr val="bg1"/>
                </a:solidFill>
              </a:rPr>
              <a:t>Create → appear in browse; edit/sold/delete as owner only</a:t>
            </a:r>
            <a:endParaRPr lang="en-US" sz="1400" dirty="0"/>
          </a:p>
        </p:txBody>
      </p:sp>
      <p:sp>
        <p:nvSpPr>
          <p:cNvPr id="16" name="card179"/>
          <p:cNvSpPr/>
          <p:nvPr/>
        </p:nvSpPr>
        <p:spPr>
          <a:xfrm>
            <a:off x="457200" y="3459480"/>
            <a:ext cx="8229600" cy="487680"/>
          </a:xfrm>
          <a:prstGeom prst="roundRect">
            <a:avLst>
              <a:gd name="adj" fmla="val 22500"/>
            </a:avLst>
          </a:prstGeom>
          <a:solidFill>
            <a:schemeClr val="tx2"/>
          </a:solidFill>
          <a:ln w="9525">
            <a:solidFill>
              <a:schemeClr val="accent6"/>
            </a:solidFill>
            <a:prstDash val="solid"/>
          </a:ln>
        </p:spPr>
        <p:txBody>
          <a:bodyPr/>
          <a:lstStyle/>
          <a:p>
            <a:endParaRPr lang="en-US"/>
          </a:p>
        </p:txBody>
      </p:sp>
      <p:sp>
        <p:nvSpPr>
          <p:cNvPr id="17" name="pill180"/>
          <p:cNvSpPr txBox="1"/>
          <p:nvPr/>
        </p:nvSpPr>
        <p:spPr>
          <a:xfrm>
            <a:off x="640080" y="3575304"/>
            <a:ext cx="14630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4"/>
                </a:solidFill>
              </a:rPr>
              <a:t>CORDOVA</a:t>
            </a:r>
            <a:endParaRPr lang="en-US" sz="1000" dirty="0"/>
          </a:p>
        </p:txBody>
      </p:sp>
      <p:sp>
        <p:nvSpPr>
          <p:cNvPr id="18" name="text181"/>
          <p:cNvSpPr txBox="1"/>
          <p:nvPr/>
        </p:nvSpPr>
        <p:spPr>
          <a:xfrm>
            <a:off x="2331720" y="3459480"/>
            <a:ext cx="6172200" cy="487680"/>
          </a:xfrm>
          <a:prstGeom prst="rect">
            <a:avLst/>
          </a:prstGeom>
          <a:noFill/>
          <a:ln/>
        </p:spPr>
        <p:txBody>
          <a:bodyPr wrap="square" lIns="0" tIns="0" rIns="0" bIns="0" rtlCol="0" anchor="ctr"/>
          <a:lstStyle/>
          <a:p>
            <a:pPr marL="0" indent="0">
              <a:buNone/>
            </a:pPr>
            <a:r>
              <a:rPr lang="en-US" sz="1400" dirty="0">
                <a:solidFill>
                  <a:schemeClr val="bg1"/>
                </a:solidFill>
              </a:rPr>
              <a:t>Camera plugin wired; file-picker fallback in browser</a:t>
            </a:r>
            <a:endParaRPr lang="en-US" sz="1400" dirty="0"/>
          </a:p>
        </p:txBody>
      </p:sp>
      <p:sp>
        <p:nvSpPr>
          <p:cNvPr id="19" name="card182"/>
          <p:cNvSpPr/>
          <p:nvPr/>
        </p:nvSpPr>
        <p:spPr>
          <a:xfrm>
            <a:off x="457200" y="4038600"/>
            <a:ext cx="8229600" cy="487680"/>
          </a:xfrm>
          <a:prstGeom prst="roundRect">
            <a:avLst>
              <a:gd name="adj" fmla="val 22500"/>
            </a:avLst>
          </a:prstGeom>
          <a:solidFill>
            <a:schemeClr val="tx2"/>
          </a:solidFill>
          <a:ln w="9525">
            <a:solidFill>
              <a:schemeClr val="accent6"/>
            </a:solidFill>
            <a:prstDash val="solid"/>
          </a:ln>
        </p:spPr>
        <p:txBody>
          <a:bodyPr/>
          <a:lstStyle/>
          <a:p>
            <a:endParaRPr lang="en-US"/>
          </a:p>
        </p:txBody>
      </p:sp>
      <p:sp>
        <p:nvSpPr>
          <p:cNvPr id="20" name="pill183"/>
          <p:cNvSpPr txBox="1"/>
          <p:nvPr/>
        </p:nvSpPr>
        <p:spPr>
          <a:xfrm>
            <a:off x="640080" y="4154424"/>
            <a:ext cx="146304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bg2"/>
                </a:solidFill>
              </a:rPr>
              <a:t>NEXT</a:t>
            </a:r>
            <a:endParaRPr lang="en-US" sz="1000" dirty="0"/>
          </a:p>
        </p:txBody>
      </p:sp>
      <p:sp>
        <p:nvSpPr>
          <p:cNvPr id="21" name="text184"/>
          <p:cNvSpPr txBox="1"/>
          <p:nvPr/>
        </p:nvSpPr>
        <p:spPr>
          <a:xfrm>
            <a:off x="2331720" y="4038600"/>
            <a:ext cx="6172200" cy="487680"/>
          </a:xfrm>
          <a:prstGeom prst="rect">
            <a:avLst/>
          </a:prstGeom>
          <a:noFill/>
          <a:ln/>
        </p:spPr>
        <p:txBody>
          <a:bodyPr wrap="square" lIns="0" tIns="0" rIns="0" bIns="0" rtlCol="0" anchor="ctr"/>
          <a:lstStyle/>
          <a:p>
            <a:pPr marL="0" indent="0">
              <a:buNone/>
            </a:pPr>
            <a:r>
              <a:rPr lang="en-US" sz="1400" dirty="0">
                <a:solidFill>
                  <a:schemeClr val="bg1"/>
                </a:solidFill>
              </a:rPr>
              <a:t>Drop screenshots into docs/slides/ or docs/testing/ (#6)</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Account screens work on a phone-sized view</a:t>
            </a:r>
            <a:endParaRPr lang="en-US" sz="3000" dirty="0"/>
          </a:p>
        </p:txBody>
      </p:sp>
      <p:sp>
        <p:nvSpPr>
          <p:cNvPr id="3" name="text185"/>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Manual testing: sign up and log in</a:t>
            </a:r>
            <a:endParaRPr lang="en-US" sz="1400" dirty="0"/>
          </a:p>
        </p:txBody>
      </p:sp>
      <p:pic>
        <p:nvPicPr>
          <p:cNvPr id="4" name="shot186" descr="Log in"/>
          <p:cNvPicPr>
            <a:picLocks noChangeAspect="1"/>
          </p:cNvPicPr>
          <p:nvPr/>
        </p:nvPicPr>
        <p:blipFill>
          <a:blip r:embed="rId3"/>
          <a:stretch>
            <a:fillRect/>
          </a:stretch>
        </p:blipFill>
        <p:spPr>
          <a:xfrm>
            <a:off x="457200" y="1097280"/>
            <a:ext cx="2329166" cy="3063240"/>
          </a:xfrm>
          <a:prstGeom prst="rect">
            <a:avLst/>
          </a:prstGeom>
        </p:spPr>
      </p:pic>
      <p:sp>
        <p:nvSpPr>
          <p:cNvPr id="5" name="frame187"/>
          <p:cNvSpPr/>
          <p:nvPr/>
        </p:nvSpPr>
        <p:spPr>
          <a:xfrm>
            <a:off x="457200" y="1097280"/>
            <a:ext cx="2329166" cy="3063240"/>
          </a:xfrm>
          <a:prstGeom prst="rect">
            <a:avLst/>
          </a:prstGeom>
          <a:ln w="12700">
            <a:solidFill>
              <a:schemeClr val="accent6"/>
            </a:solidFill>
            <a:prstDash val="solid"/>
          </a:ln>
        </p:spPr>
        <p:txBody>
          <a:bodyPr/>
          <a:lstStyle/>
          <a:p>
            <a:endParaRPr lang="en-US"/>
          </a:p>
        </p:txBody>
      </p:sp>
      <p:sp>
        <p:nvSpPr>
          <p:cNvPr id="6" name="text188"/>
          <p:cNvSpPr txBox="1"/>
          <p:nvPr/>
        </p:nvSpPr>
        <p:spPr>
          <a:xfrm>
            <a:off x="274320" y="4233672"/>
            <a:ext cx="2694926" cy="274320"/>
          </a:xfrm>
          <a:prstGeom prst="rect">
            <a:avLst/>
          </a:prstGeom>
          <a:noFill/>
          <a:ln/>
        </p:spPr>
        <p:txBody>
          <a:bodyPr wrap="square" lIns="0" tIns="0" rIns="0" bIns="0" rtlCol="0" anchor="t"/>
          <a:lstStyle/>
          <a:p>
            <a:pPr marL="0" indent="0" algn="ctr">
              <a:buNone/>
            </a:pPr>
            <a:r>
              <a:rPr lang="en-US" sz="1100" dirty="0">
                <a:solidFill>
                  <a:schemeClr val="bg2"/>
                </a:solidFill>
              </a:rPr>
              <a:t>Log in</a:t>
            </a:r>
            <a:endParaRPr lang="en-US" sz="1100" dirty="0"/>
          </a:p>
        </p:txBody>
      </p:sp>
      <p:pic>
        <p:nvPicPr>
          <p:cNvPr id="7" name="shot189" descr="Sign up with campus"/>
          <p:cNvPicPr>
            <a:picLocks noChangeAspect="1"/>
          </p:cNvPicPr>
          <p:nvPr/>
        </p:nvPicPr>
        <p:blipFill>
          <a:blip r:embed="rId4"/>
          <a:stretch>
            <a:fillRect/>
          </a:stretch>
        </p:blipFill>
        <p:spPr>
          <a:xfrm>
            <a:off x="3106406" y="1097280"/>
            <a:ext cx="1902245" cy="3063240"/>
          </a:xfrm>
          <a:prstGeom prst="rect">
            <a:avLst/>
          </a:prstGeom>
        </p:spPr>
      </p:pic>
      <p:sp>
        <p:nvSpPr>
          <p:cNvPr id="8" name="frame190"/>
          <p:cNvSpPr/>
          <p:nvPr/>
        </p:nvSpPr>
        <p:spPr>
          <a:xfrm>
            <a:off x="3106406" y="1097280"/>
            <a:ext cx="1902245" cy="3063240"/>
          </a:xfrm>
          <a:prstGeom prst="rect">
            <a:avLst/>
          </a:prstGeom>
          <a:ln w="12700">
            <a:solidFill>
              <a:schemeClr val="accent6"/>
            </a:solidFill>
            <a:prstDash val="solid"/>
          </a:ln>
        </p:spPr>
        <p:txBody>
          <a:bodyPr/>
          <a:lstStyle/>
          <a:p>
            <a:endParaRPr lang="en-US"/>
          </a:p>
        </p:txBody>
      </p:sp>
      <p:sp>
        <p:nvSpPr>
          <p:cNvPr id="9" name="text191"/>
          <p:cNvSpPr txBox="1"/>
          <p:nvPr/>
        </p:nvSpPr>
        <p:spPr>
          <a:xfrm>
            <a:off x="2923526" y="4233672"/>
            <a:ext cx="2268005" cy="274320"/>
          </a:xfrm>
          <a:prstGeom prst="rect">
            <a:avLst/>
          </a:prstGeom>
          <a:noFill/>
          <a:ln/>
        </p:spPr>
        <p:txBody>
          <a:bodyPr wrap="square" lIns="0" tIns="0" rIns="0" bIns="0" rtlCol="0" anchor="t"/>
          <a:lstStyle/>
          <a:p>
            <a:pPr marL="0" indent="0" algn="ctr">
              <a:buNone/>
            </a:pPr>
            <a:r>
              <a:rPr lang="en-US" sz="1100" dirty="0">
                <a:solidFill>
                  <a:schemeClr val="bg2"/>
                </a:solidFill>
              </a:rPr>
              <a:t>Sign up with campus</a:t>
            </a:r>
            <a:endParaRPr lang="en-US" sz="1100" dirty="0"/>
          </a:p>
        </p:txBody>
      </p:sp>
      <p:sp>
        <p:nvSpPr>
          <p:cNvPr id="10" name="card192"/>
          <p:cNvSpPr/>
          <p:nvPr/>
        </p:nvSpPr>
        <p:spPr>
          <a:xfrm>
            <a:off x="5328692" y="1097280"/>
            <a:ext cx="3358108" cy="3063240"/>
          </a:xfrm>
          <a:prstGeom prst="roundRect">
            <a:avLst>
              <a:gd name="adj" fmla="val 3582"/>
            </a:avLst>
          </a:prstGeom>
          <a:solidFill>
            <a:schemeClr val="tx2"/>
          </a:solidFill>
          <a:ln w="9525">
            <a:solidFill>
              <a:schemeClr val="accent6"/>
            </a:solidFill>
            <a:prstDash val="solid"/>
          </a:ln>
        </p:spPr>
        <p:txBody>
          <a:bodyPr/>
          <a:lstStyle/>
          <a:p>
            <a:endParaRPr lang="en-US"/>
          </a:p>
        </p:txBody>
      </p:sp>
      <p:sp>
        <p:nvSpPr>
          <p:cNvPr id="11" name="text193"/>
          <p:cNvSpPr txBox="1"/>
          <p:nvPr/>
        </p:nvSpPr>
        <p:spPr>
          <a:xfrm>
            <a:off x="5529860" y="1261872"/>
            <a:ext cx="2955772" cy="320040"/>
          </a:xfrm>
          <a:prstGeom prst="rect">
            <a:avLst/>
          </a:prstGeom>
          <a:noFill/>
          <a:ln/>
        </p:spPr>
        <p:txBody>
          <a:bodyPr wrap="square" lIns="0" tIns="0" rIns="0" bIns="0" rtlCol="0" anchor="t"/>
          <a:lstStyle/>
          <a:p>
            <a:pPr marL="0" indent="0">
              <a:buNone/>
            </a:pPr>
            <a:r>
              <a:rPr lang="en-US" sz="1600" b="1" dirty="0">
                <a:solidFill>
                  <a:schemeClr val="accent1"/>
                </a:solidFill>
              </a:rPr>
              <a:t>What we checked</a:t>
            </a:r>
            <a:endParaRPr lang="en-US" sz="1600" dirty="0"/>
          </a:p>
        </p:txBody>
      </p:sp>
      <p:sp>
        <p:nvSpPr>
          <p:cNvPr id="12" name="text194"/>
          <p:cNvSpPr txBox="1"/>
          <p:nvPr/>
        </p:nvSpPr>
        <p:spPr>
          <a:xfrm>
            <a:off x="5529860" y="1691640"/>
            <a:ext cx="2955772" cy="23774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chemeClr val="bg1"/>
                </a:solidFill>
              </a:rPr>
              <a:t>Sign up creates an account and logs the user in</a:t>
            </a:r>
            <a:endParaRPr lang="en-US" sz="1300" dirty="0"/>
          </a:p>
          <a:p>
            <a:pPr marL="342900" indent="-342900">
              <a:spcAft>
                <a:spcPts val="700"/>
              </a:spcAft>
              <a:buSzPct val="100000"/>
              <a:buChar char="•"/>
            </a:pPr>
            <a:r>
              <a:rPr lang="en-US" sz="1300" dirty="0">
                <a:solidFill>
                  <a:schemeClr val="bg1"/>
                </a:solidFill>
              </a:rPr>
              <a:t>Passwords under 8 characters are rejected</a:t>
            </a:r>
            <a:endParaRPr lang="en-US" sz="1300" dirty="0"/>
          </a:p>
          <a:p>
            <a:pPr marL="342900" indent="-342900">
              <a:spcAft>
                <a:spcPts val="700"/>
              </a:spcAft>
              <a:buSzPct val="100000"/>
              <a:buChar char="•"/>
            </a:pPr>
            <a:r>
              <a:rPr lang="en-US" sz="1300" dirty="0">
                <a:solidFill>
                  <a:schemeClr val="bg1"/>
                </a:solidFill>
              </a:rPr>
              <a:t>A duplicate email shows a clear error</a:t>
            </a:r>
            <a:endParaRPr lang="en-US" sz="1300" dirty="0"/>
          </a:p>
          <a:p>
            <a:pPr marL="342900" indent="-342900">
              <a:spcAft>
                <a:spcPts val="700"/>
              </a:spcAft>
              <a:buSzPct val="100000"/>
              <a:buChar char="•"/>
            </a:pPr>
            <a:r>
              <a:rPr lang="en-US" sz="1300" dirty="0">
                <a:solidFill>
                  <a:schemeClr val="bg1"/>
                </a:solidFill>
              </a:rPr>
              <a:t>Wrong credentials keep the user on the login page</a:t>
            </a:r>
            <a:endParaRPr lang="en-US" sz="1300" dirty="0"/>
          </a:p>
          <a:p>
            <a:pPr marL="342900" indent="-342900">
              <a:spcAft>
                <a:spcPts val="700"/>
              </a:spcAft>
              <a:buSzPct val="100000"/>
              <a:buChar char="•"/>
            </a:pPr>
            <a:r>
              <a:rPr lang="en-US" sz="1300" dirty="0">
                <a:solidFill>
                  <a:schemeClr val="bg1"/>
                </a:solidFill>
              </a:rPr>
              <a:t>Log out clears the token and returns to login</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A new listing appears in Browse and Profile</a:t>
            </a:r>
            <a:endParaRPr lang="en-US" sz="3000" dirty="0"/>
          </a:p>
        </p:txBody>
      </p:sp>
      <p:sp>
        <p:nvSpPr>
          <p:cNvPr id="3" name="text195"/>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Manual testing: create, browse, profile</a:t>
            </a:r>
            <a:endParaRPr lang="en-US" sz="1400" dirty="0"/>
          </a:p>
        </p:txBody>
      </p:sp>
      <p:pic>
        <p:nvPicPr>
          <p:cNvPr id="4" name="shot196" descr="1. Create listing (POST)"/>
          <p:cNvPicPr>
            <a:picLocks noChangeAspect="1"/>
          </p:cNvPicPr>
          <p:nvPr/>
        </p:nvPicPr>
        <p:blipFill>
          <a:blip r:embed="rId3"/>
          <a:stretch>
            <a:fillRect/>
          </a:stretch>
        </p:blipFill>
        <p:spPr>
          <a:xfrm>
            <a:off x="457200" y="1097280"/>
            <a:ext cx="2454283" cy="3063240"/>
          </a:xfrm>
          <a:prstGeom prst="rect">
            <a:avLst/>
          </a:prstGeom>
        </p:spPr>
      </p:pic>
      <p:sp>
        <p:nvSpPr>
          <p:cNvPr id="5" name="frame197"/>
          <p:cNvSpPr/>
          <p:nvPr/>
        </p:nvSpPr>
        <p:spPr>
          <a:xfrm>
            <a:off x="457200" y="1097280"/>
            <a:ext cx="2454283" cy="3063240"/>
          </a:xfrm>
          <a:prstGeom prst="rect">
            <a:avLst/>
          </a:prstGeom>
          <a:ln w="12700">
            <a:solidFill>
              <a:schemeClr val="accent6"/>
            </a:solidFill>
            <a:prstDash val="solid"/>
          </a:ln>
        </p:spPr>
        <p:txBody>
          <a:bodyPr/>
          <a:lstStyle/>
          <a:p>
            <a:endParaRPr lang="en-US"/>
          </a:p>
        </p:txBody>
      </p:sp>
      <p:sp>
        <p:nvSpPr>
          <p:cNvPr id="6" name="text198"/>
          <p:cNvSpPr txBox="1"/>
          <p:nvPr/>
        </p:nvSpPr>
        <p:spPr>
          <a:xfrm>
            <a:off x="274320" y="4233672"/>
            <a:ext cx="2820043" cy="274320"/>
          </a:xfrm>
          <a:prstGeom prst="rect">
            <a:avLst/>
          </a:prstGeom>
          <a:noFill/>
          <a:ln/>
        </p:spPr>
        <p:txBody>
          <a:bodyPr wrap="square" lIns="0" tIns="0" rIns="0" bIns="0" rtlCol="0" anchor="t"/>
          <a:lstStyle/>
          <a:p>
            <a:pPr marL="0" indent="0" algn="ctr">
              <a:buNone/>
            </a:pPr>
            <a:r>
              <a:rPr lang="en-US" sz="1100" dirty="0">
                <a:solidFill>
                  <a:schemeClr val="bg2"/>
                </a:solidFill>
              </a:rPr>
              <a:t>1. Create listing (POST)</a:t>
            </a:r>
            <a:endParaRPr lang="en-US" sz="1100" dirty="0"/>
          </a:p>
        </p:txBody>
      </p:sp>
      <p:pic>
        <p:nvPicPr>
          <p:cNvPr id="7" name="shot199" descr="2. Browse shows 4 listings (GET)"/>
          <p:cNvPicPr>
            <a:picLocks noChangeAspect="1"/>
          </p:cNvPicPr>
          <p:nvPr/>
        </p:nvPicPr>
        <p:blipFill>
          <a:blip r:embed="rId4"/>
          <a:stretch>
            <a:fillRect/>
          </a:stretch>
        </p:blipFill>
        <p:spPr>
          <a:xfrm>
            <a:off x="3185803" y="1097280"/>
            <a:ext cx="2585996" cy="3063240"/>
          </a:xfrm>
          <a:prstGeom prst="rect">
            <a:avLst/>
          </a:prstGeom>
        </p:spPr>
      </p:pic>
      <p:sp>
        <p:nvSpPr>
          <p:cNvPr id="8" name="frame200"/>
          <p:cNvSpPr/>
          <p:nvPr/>
        </p:nvSpPr>
        <p:spPr>
          <a:xfrm>
            <a:off x="3185803" y="1097280"/>
            <a:ext cx="2585996" cy="3063240"/>
          </a:xfrm>
          <a:prstGeom prst="rect">
            <a:avLst/>
          </a:prstGeom>
          <a:ln w="12700">
            <a:solidFill>
              <a:schemeClr val="accent6"/>
            </a:solidFill>
            <a:prstDash val="solid"/>
          </a:ln>
        </p:spPr>
        <p:txBody>
          <a:bodyPr/>
          <a:lstStyle/>
          <a:p>
            <a:endParaRPr lang="en-US"/>
          </a:p>
        </p:txBody>
      </p:sp>
      <p:sp>
        <p:nvSpPr>
          <p:cNvPr id="9" name="text201"/>
          <p:cNvSpPr txBox="1"/>
          <p:nvPr/>
        </p:nvSpPr>
        <p:spPr>
          <a:xfrm>
            <a:off x="3002923" y="4233672"/>
            <a:ext cx="2951756" cy="274320"/>
          </a:xfrm>
          <a:prstGeom prst="rect">
            <a:avLst/>
          </a:prstGeom>
          <a:noFill/>
          <a:ln/>
        </p:spPr>
        <p:txBody>
          <a:bodyPr wrap="square" lIns="0" tIns="0" rIns="0" bIns="0" rtlCol="0" anchor="t"/>
          <a:lstStyle/>
          <a:p>
            <a:pPr marL="0" indent="0" algn="ctr">
              <a:buNone/>
            </a:pPr>
            <a:r>
              <a:rPr lang="en-US" sz="1100" dirty="0">
                <a:solidFill>
                  <a:schemeClr val="bg2"/>
                </a:solidFill>
              </a:rPr>
              <a:t>2. Browse shows 4 listings (GET)</a:t>
            </a:r>
            <a:endParaRPr lang="en-US" sz="1100" dirty="0"/>
          </a:p>
        </p:txBody>
      </p:sp>
      <p:pic>
        <p:nvPicPr>
          <p:cNvPr id="10" name="shot202" descr="3. Profile shows 4 active (GET)"/>
          <p:cNvPicPr>
            <a:picLocks noChangeAspect="1"/>
          </p:cNvPicPr>
          <p:nvPr/>
        </p:nvPicPr>
        <p:blipFill>
          <a:blip r:embed="rId5"/>
          <a:stretch>
            <a:fillRect/>
          </a:stretch>
        </p:blipFill>
        <p:spPr>
          <a:xfrm>
            <a:off x="6046119" y="1097280"/>
            <a:ext cx="2464633" cy="3063240"/>
          </a:xfrm>
          <a:prstGeom prst="rect">
            <a:avLst/>
          </a:prstGeom>
        </p:spPr>
      </p:pic>
      <p:sp>
        <p:nvSpPr>
          <p:cNvPr id="11" name="frame203"/>
          <p:cNvSpPr/>
          <p:nvPr/>
        </p:nvSpPr>
        <p:spPr>
          <a:xfrm>
            <a:off x="6046119" y="1097280"/>
            <a:ext cx="2464633" cy="3063240"/>
          </a:xfrm>
          <a:prstGeom prst="rect">
            <a:avLst/>
          </a:prstGeom>
          <a:ln w="12700">
            <a:solidFill>
              <a:schemeClr val="accent6"/>
            </a:solidFill>
            <a:prstDash val="solid"/>
          </a:ln>
        </p:spPr>
        <p:txBody>
          <a:bodyPr/>
          <a:lstStyle/>
          <a:p>
            <a:endParaRPr lang="en-US"/>
          </a:p>
        </p:txBody>
      </p:sp>
      <p:sp>
        <p:nvSpPr>
          <p:cNvPr id="12" name="text204"/>
          <p:cNvSpPr txBox="1"/>
          <p:nvPr/>
        </p:nvSpPr>
        <p:spPr>
          <a:xfrm>
            <a:off x="5863239" y="4233672"/>
            <a:ext cx="2830393" cy="274320"/>
          </a:xfrm>
          <a:prstGeom prst="rect">
            <a:avLst/>
          </a:prstGeom>
          <a:noFill/>
          <a:ln/>
        </p:spPr>
        <p:txBody>
          <a:bodyPr wrap="square" lIns="0" tIns="0" rIns="0" bIns="0" rtlCol="0" anchor="t"/>
          <a:lstStyle/>
          <a:p>
            <a:pPr marL="0" indent="0" algn="ctr">
              <a:buNone/>
            </a:pPr>
            <a:r>
              <a:rPr lang="en-US" sz="1100" dirty="0">
                <a:solidFill>
                  <a:schemeClr val="bg2"/>
                </a:solidFill>
              </a:rPr>
              <a:t>3. Profile shows 4 active (GET)</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Marking sold updates the listing and the profile</a:t>
            </a:r>
            <a:endParaRPr lang="en-US" sz="3000" dirty="0"/>
          </a:p>
        </p:txBody>
      </p:sp>
      <p:sp>
        <p:nvSpPr>
          <p:cNvPr id="3" name="text205"/>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Manual testing: owner actions and mark as sold (PUT)</a:t>
            </a:r>
            <a:endParaRPr lang="en-US" sz="1400" dirty="0"/>
          </a:p>
        </p:txBody>
      </p:sp>
      <p:pic>
        <p:nvPicPr>
          <p:cNvPr id="4" name="shot206" descr="1. Owner sees Edit, Mark sold, Delete"/>
          <p:cNvPicPr>
            <a:picLocks noChangeAspect="1"/>
          </p:cNvPicPr>
          <p:nvPr/>
        </p:nvPicPr>
        <p:blipFill>
          <a:blip r:embed="rId3"/>
          <a:stretch>
            <a:fillRect/>
          </a:stretch>
        </p:blipFill>
        <p:spPr>
          <a:xfrm>
            <a:off x="457200" y="1188720"/>
            <a:ext cx="2561831" cy="2743200"/>
          </a:xfrm>
          <a:prstGeom prst="rect">
            <a:avLst/>
          </a:prstGeom>
        </p:spPr>
      </p:pic>
      <p:sp>
        <p:nvSpPr>
          <p:cNvPr id="5" name="frame207"/>
          <p:cNvSpPr/>
          <p:nvPr/>
        </p:nvSpPr>
        <p:spPr>
          <a:xfrm>
            <a:off x="457200" y="1188720"/>
            <a:ext cx="2561831" cy="2743200"/>
          </a:xfrm>
          <a:prstGeom prst="rect">
            <a:avLst/>
          </a:prstGeom>
          <a:ln w="12700">
            <a:solidFill>
              <a:schemeClr val="accent6"/>
            </a:solidFill>
            <a:prstDash val="solid"/>
          </a:ln>
        </p:spPr>
        <p:txBody>
          <a:bodyPr/>
          <a:lstStyle/>
          <a:p>
            <a:endParaRPr lang="en-US"/>
          </a:p>
        </p:txBody>
      </p:sp>
      <p:sp>
        <p:nvSpPr>
          <p:cNvPr id="6" name="text208"/>
          <p:cNvSpPr txBox="1"/>
          <p:nvPr/>
        </p:nvSpPr>
        <p:spPr>
          <a:xfrm>
            <a:off x="274320" y="4005072"/>
            <a:ext cx="2927591" cy="274320"/>
          </a:xfrm>
          <a:prstGeom prst="rect">
            <a:avLst/>
          </a:prstGeom>
          <a:noFill/>
          <a:ln/>
        </p:spPr>
        <p:txBody>
          <a:bodyPr wrap="square" lIns="0" tIns="0" rIns="0" bIns="0" rtlCol="0" anchor="t"/>
          <a:lstStyle/>
          <a:p>
            <a:pPr marL="0" indent="0" algn="ctr">
              <a:buNone/>
            </a:pPr>
            <a:r>
              <a:rPr lang="en-US" sz="1100" dirty="0">
                <a:solidFill>
                  <a:schemeClr val="bg2"/>
                </a:solidFill>
              </a:rPr>
              <a:t>1. Owner sees Edit, Mark sold, Delete</a:t>
            </a:r>
            <a:endParaRPr lang="en-US" sz="1100" dirty="0"/>
          </a:p>
        </p:txBody>
      </p:sp>
      <p:pic>
        <p:nvPicPr>
          <p:cNvPr id="7" name="shot209" descr="2. After Mark sold: SOLD badge"/>
          <p:cNvPicPr>
            <a:picLocks noChangeAspect="1"/>
          </p:cNvPicPr>
          <p:nvPr/>
        </p:nvPicPr>
        <p:blipFill>
          <a:blip r:embed="rId4"/>
          <a:stretch>
            <a:fillRect/>
          </a:stretch>
        </p:blipFill>
        <p:spPr>
          <a:xfrm>
            <a:off x="3156191" y="1188720"/>
            <a:ext cx="2542663" cy="2743200"/>
          </a:xfrm>
          <a:prstGeom prst="rect">
            <a:avLst/>
          </a:prstGeom>
        </p:spPr>
      </p:pic>
      <p:sp>
        <p:nvSpPr>
          <p:cNvPr id="8" name="frame210"/>
          <p:cNvSpPr/>
          <p:nvPr/>
        </p:nvSpPr>
        <p:spPr>
          <a:xfrm>
            <a:off x="3156191" y="1188720"/>
            <a:ext cx="2542663" cy="2743200"/>
          </a:xfrm>
          <a:prstGeom prst="rect">
            <a:avLst/>
          </a:prstGeom>
          <a:ln w="12700">
            <a:solidFill>
              <a:schemeClr val="accent6"/>
            </a:solidFill>
            <a:prstDash val="solid"/>
          </a:ln>
        </p:spPr>
        <p:txBody>
          <a:bodyPr/>
          <a:lstStyle/>
          <a:p>
            <a:endParaRPr lang="en-US"/>
          </a:p>
        </p:txBody>
      </p:sp>
      <p:sp>
        <p:nvSpPr>
          <p:cNvPr id="9" name="text211"/>
          <p:cNvSpPr txBox="1"/>
          <p:nvPr/>
        </p:nvSpPr>
        <p:spPr>
          <a:xfrm>
            <a:off x="2973311" y="4005072"/>
            <a:ext cx="2908423" cy="274320"/>
          </a:xfrm>
          <a:prstGeom prst="rect">
            <a:avLst/>
          </a:prstGeom>
          <a:noFill/>
          <a:ln/>
        </p:spPr>
        <p:txBody>
          <a:bodyPr wrap="square" lIns="0" tIns="0" rIns="0" bIns="0" rtlCol="0" anchor="t"/>
          <a:lstStyle/>
          <a:p>
            <a:pPr marL="0" indent="0" algn="ctr">
              <a:buNone/>
            </a:pPr>
            <a:r>
              <a:rPr lang="en-US" sz="1100" dirty="0">
                <a:solidFill>
                  <a:schemeClr val="bg2"/>
                </a:solidFill>
              </a:rPr>
              <a:t>2. After Mark sold: SOLD badge</a:t>
            </a:r>
            <a:endParaRPr lang="en-US" sz="1100" dirty="0"/>
          </a:p>
        </p:txBody>
      </p:sp>
      <p:pic>
        <p:nvPicPr>
          <p:cNvPr id="10" name="shot212" descr="3. Profile: 3 active · 1 sold"/>
          <p:cNvPicPr>
            <a:picLocks noChangeAspect="1"/>
          </p:cNvPicPr>
          <p:nvPr/>
        </p:nvPicPr>
        <p:blipFill>
          <a:blip r:embed="rId5"/>
          <a:stretch>
            <a:fillRect/>
          </a:stretch>
        </p:blipFill>
        <p:spPr>
          <a:xfrm>
            <a:off x="5836014" y="1188720"/>
            <a:ext cx="2842093" cy="2743200"/>
          </a:xfrm>
          <a:prstGeom prst="rect">
            <a:avLst/>
          </a:prstGeom>
        </p:spPr>
      </p:pic>
      <p:sp>
        <p:nvSpPr>
          <p:cNvPr id="11" name="frame213"/>
          <p:cNvSpPr/>
          <p:nvPr/>
        </p:nvSpPr>
        <p:spPr>
          <a:xfrm>
            <a:off x="5836014" y="1188720"/>
            <a:ext cx="2842093" cy="2743200"/>
          </a:xfrm>
          <a:prstGeom prst="rect">
            <a:avLst/>
          </a:prstGeom>
          <a:ln w="12700">
            <a:solidFill>
              <a:schemeClr val="accent6"/>
            </a:solidFill>
            <a:prstDash val="solid"/>
          </a:ln>
        </p:spPr>
        <p:txBody>
          <a:bodyPr/>
          <a:lstStyle/>
          <a:p>
            <a:endParaRPr lang="en-US"/>
          </a:p>
        </p:txBody>
      </p:sp>
      <p:sp>
        <p:nvSpPr>
          <p:cNvPr id="12" name="text214"/>
          <p:cNvSpPr txBox="1"/>
          <p:nvPr/>
        </p:nvSpPr>
        <p:spPr>
          <a:xfrm>
            <a:off x="5653134" y="4005072"/>
            <a:ext cx="3207853" cy="274320"/>
          </a:xfrm>
          <a:prstGeom prst="rect">
            <a:avLst/>
          </a:prstGeom>
          <a:noFill/>
          <a:ln/>
        </p:spPr>
        <p:txBody>
          <a:bodyPr wrap="square" lIns="0" tIns="0" rIns="0" bIns="0" rtlCol="0" anchor="t"/>
          <a:lstStyle/>
          <a:p>
            <a:pPr marL="0" indent="0" algn="ctr">
              <a:buNone/>
            </a:pPr>
            <a:r>
              <a:rPr lang="en-US" sz="1100" dirty="0">
                <a:solidFill>
                  <a:schemeClr val="bg2"/>
                </a:solidFill>
              </a:rPr>
              <a:t>3. Profile: 3 active · 1 sold</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Vulnerability analysis (preliminary)</a:t>
            </a:r>
            <a:endParaRPr lang="en-US" sz="3000" dirty="0"/>
          </a:p>
        </p:txBody>
      </p:sp>
      <p:sp>
        <p:nvSpPr>
          <p:cNvPr id="3" name="text215"/>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Report only — fixes not required (assignment)</a:t>
            </a:r>
            <a:endParaRPr lang="en-US" sz="1400" dirty="0"/>
          </a:p>
        </p:txBody>
      </p:sp>
      <p:sp>
        <p:nvSpPr>
          <p:cNvPr id="4" name="card216"/>
          <p:cNvSpPr/>
          <p:nvPr/>
        </p:nvSpPr>
        <p:spPr>
          <a:xfrm>
            <a:off x="457200" y="1143000"/>
            <a:ext cx="5394960" cy="475488"/>
          </a:xfrm>
          <a:prstGeom prst="roundRect">
            <a:avLst>
              <a:gd name="adj" fmla="val 23077"/>
            </a:avLst>
          </a:prstGeom>
          <a:solidFill>
            <a:schemeClr val="tx2"/>
          </a:solidFill>
          <a:ln w="9525">
            <a:solidFill>
              <a:schemeClr val="accent6"/>
            </a:solidFill>
            <a:prstDash val="solid"/>
          </a:ln>
        </p:spPr>
        <p:txBody>
          <a:bodyPr/>
          <a:lstStyle/>
          <a:p>
            <a:endParaRPr lang="en-US"/>
          </a:p>
        </p:txBody>
      </p:sp>
      <p:sp>
        <p:nvSpPr>
          <p:cNvPr id="5" name="pill217"/>
          <p:cNvSpPr txBox="1"/>
          <p:nvPr/>
        </p:nvSpPr>
        <p:spPr>
          <a:xfrm>
            <a:off x="594360" y="1252728"/>
            <a:ext cx="82296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5"/>
                </a:solidFill>
              </a:rPr>
              <a:t>HIGH</a:t>
            </a:r>
            <a:endParaRPr lang="en-US" sz="1000" dirty="0"/>
          </a:p>
        </p:txBody>
      </p:sp>
      <p:sp>
        <p:nvSpPr>
          <p:cNvPr id="6" name="text218"/>
          <p:cNvSpPr txBox="1"/>
          <p:nvPr/>
        </p:nvSpPr>
        <p:spPr>
          <a:xfrm>
            <a:off x="1554480" y="1188720"/>
            <a:ext cx="4206240" cy="201168"/>
          </a:xfrm>
          <a:prstGeom prst="rect">
            <a:avLst/>
          </a:prstGeom>
          <a:noFill/>
          <a:ln/>
        </p:spPr>
        <p:txBody>
          <a:bodyPr wrap="square" lIns="0" tIns="0" rIns="0" bIns="0" rtlCol="0" anchor="t"/>
          <a:lstStyle/>
          <a:p>
            <a:pPr marL="0" indent="0">
              <a:buNone/>
            </a:pPr>
            <a:r>
              <a:rPr lang="en-US" sz="1200" b="1" dirty="0">
                <a:solidFill>
                  <a:schemeClr val="bg1"/>
                </a:solidFill>
              </a:rPr>
              <a:t>JWT stored in localStorage</a:t>
            </a:r>
            <a:endParaRPr lang="en-US" sz="1200" dirty="0"/>
          </a:p>
        </p:txBody>
      </p:sp>
      <p:sp>
        <p:nvSpPr>
          <p:cNvPr id="7" name="text219"/>
          <p:cNvSpPr txBox="1"/>
          <p:nvPr/>
        </p:nvSpPr>
        <p:spPr>
          <a:xfrm>
            <a:off x="1554480" y="1389888"/>
            <a:ext cx="4206240" cy="182880"/>
          </a:xfrm>
          <a:prstGeom prst="rect">
            <a:avLst/>
          </a:prstGeom>
          <a:noFill/>
          <a:ln/>
        </p:spPr>
        <p:txBody>
          <a:bodyPr wrap="square" lIns="0" tIns="0" rIns="0" bIns="0" rtlCol="0" anchor="t"/>
          <a:lstStyle/>
          <a:p>
            <a:pPr marL="0" indent="0">
              <a:buNone/>
            </a:pPr>
            <a:r>
              <a:rPr lang="en-US" sz="1000" dirty="0">
                <a:solidFill>
                  <a:schemeClr val="bg2"/>
                </a:solidFill>
              </a:rPr>
              <a:t>A script injection could steal the 7-day token</a:t>
            </a:r>
            <a:endParaRPr lang="en-US" sz="1000" dirty="0"/>
          </a:p>
        </p:txBody>
      </p:sp>
      <p:sp>
        <p:nvSpPr>
          <p:cNvPr id="8" name="card220"/>
          <p:cNvSpPr/>
          <p:nvPr/>
        </p:nvSpPr>
        <p:spPr>
          <a:xfrm>
            <a:off x="457200" y="1709928"/>
            <a:ext cx="5394960" cy="475488"/>
          </a:xfrm>
          <a:prstGeom prst="roundRect">
            <a:avLst>
              <a:gd name="adj" fmla="val 23077"/>
            </a:avLst>
          </a:prstGeom>
          <a:solidFill>
            <a:schemeClr val="tx2"/>
          </a:solidFill>
          <a:ln w="9525">
            <a:solidFill>
              <a:schemeClr val="accent6"/>
            </a:solidFill>
            <a:prstDash val="solid"/>
          </a:ln>
        </p:spPr>
        <p:txBody>
          <a:bodyPr/>
          <a:lstStyle/>
          <a:p>
            <a:endParaRPr lang="en-US"/>
          </a:p>
        </p:txBody>
      </p:sp>
      <p:sp>
        <p:nvSpPr>
          <p:cNvPr id="9" name="pill221"/>
          <p:cNvSpPr txBox="1"/>
          <p:nvPr/>
        </p:nvSpPr>
        <p:spPr>
          <a:xfrm>
            <a:off x="594360" y="1819656"/>
            <a:ext cx="82296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2"/>
                </a:solidFill>
              </a:rPr>
              <a:t>MEDIUM</a:t>
            </a:r>
            <a:endParaRPr lang="en-US" sz="1000" dirty="0"/>
          </a:p>
        </p:txBody>
      </p:sp>
      <p:sp>
        <p:nvSpPr>
          <p:cNvPr id="10" name="text222"/>
          <p:cNvSpPr txBox="1"/>
          <p:nvPr/>
        </p:nvSpPr>
        <p:spPr>
          <a:xfrm>
            <a:off x="1554480" y="1755648"/>
            <a:ext cx="4206240" cy="201168"/>
          </a:xfrm>
          <a:prstGeom prst="rect">
            <a:avLst/>
          </a:prstGeom>
          <a:noFill/>
          <a:ln/>
        </p:spPr>
        <p:txBody>
          <a:bodyPr wrap="square" lIns="0" tIns="0" rIns="0" bIns="0" rtlCol="0" anchor="t"/>
          <a:lstStyle/>
          <a:p>
            <a:pPr marL="0" indent="0">
              <a:buNone/>
            </a:pPr>
            <a:r>
              <a:rPr lang="en-US" sz="1200" b="1" dirty="0">
                <a:solidFill>
                  <a:schemeClr val="bg1"/>
                </a:solidFill>
              </a:rPr>
              <a:t>CORS open to all origins</a:t>
            </a:r>
            <a:endParaRPr lang="en-US" sz="1200" dirty="0"/>
          </a:p>
        </p:txBody>
      </p:sp>
      <p:sp>
        <p:nvSpPr>
          <p:cNvPr id="11" name="text223"/>
          <p:cNvSpPr txBox="1"/>
          <p:nvPr/>
        </p:nvSpPr>
        <p:spPr>
          <a:xfrm>
            <a:off x="1554480" y="1956816"/>
            <a:ext cx="4206240" cy="182880"/>
          </a:xfrm>
          <a:prstGeom prst="rect">
            <a:avLst/>
          </a:prstGeom>
          <a:noFill/>
          <a:ln/>
        </p:spPr>
        <p:txBody>
          <a:bodyPr wrap="square" lIns="0" tIns="0" rIns="0" bIns="0" rtlCol="0" anchor="t"/>
          <a:lstStyle/>
          <a:p>
            <a:pPr marL="0" indent="0">
              <a:buNone/>
            </a:pPr>
            <a:r>
              <a:rPr lang="en-US" sz="1000" dirty="0">
                <a:solidFill>
                  <a:schemeClr val="bg2"/>
                </a:solidFill>
              </a:rPr>
              <a:t>Any website can call the API</a:t>
            </a:r>
            <a:endParaRPr lang="en-US" sz="1000" dirty="0"/>
          </a:p>
        </p:txBody>
      </p:sp>
      <p:sp>
        <p:nvSpPr>
          <p:cNvPr id="12" name="card224"/>
          <p:cNvSpPr/>
          <p:nvPr/>
        </p:nvSpPr>
        <p:spPr>
          <a:xfrm>
            <a:off x="457200" y="2276856"/>
            <a:ext cx="5394960" cy="475488"/>
          </a:xfrm>
          <a:prstGeom prst="roundRect">
            <a:avLst>
              <a:gd name="adj" fmla="val 23077"/>
            </a:avLst>
          </a:prstGeom>
          <a:solidFill>
            <a:schemeClr val="tx2"/>
          </a:solidFill>
          <a:ln w="9525">
            <a:solidFill>
              <a:schemeClr val="accent6"/>
            </a:solidFill>
            <a:prstDash val="solid"/>
          </a:ln>
        </p:spPr>
        <p:txBody>
          <a:bodyPr/>
          <a:lstStyle/>
          <a:p>
            <a:endParaRPr lang="en-US"/>
          </a:p>
        </p:txBody>
      </p:sp>
      <p:sp>
        <p:nvSpPr>
          <p:cNvPr id="13" name="pill225"/>
          <p:cNvSpPr txBox="1"/>
          <p:nvPr/>
        </p:nvSpPr>
        <p:spPr>
          <a:xfrm>
            <a:off x="594360" y="2386584"/>
            <a:ext cx="82296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2"/>
                </a:solidFill>
              </a:rPr>
              <a:t>MEDIUM</a:t>
            </a:r>
            <a:endParaRPr lang="en-US" sz="1000" dirty="0"/>
          </a:p>
        </p:txBody>
      </p:sp>
      <p:sp>
        <p:nvSpPr>
          <p:cNvPr id="14" name="text226"/>
          <p:cNvSpPr txBox="1"/>
          <p:nvPr/>
        </p:nvSpPr>
        <p:spPr>
          <a:xfrm>
            <a:off x="1554480" y="2322576"/>
            <a:ext cx="4206240" cy="201168"/>
          </a:xfrm>
          <a:prstGeom prst="rect">
            <a:avLst/>
          </a:prstGeom>
          <a:noFill/>
          <a:ln/>
        </p:spPr>
        <p:txBody>
          <a:bodyPr wrap="square" lIns="0" tIns="0" rIns="0" bIns="0" rtlCol="0" anchor="t"/>
          <a:lstStyle/>
          <a:p>
            <a:pPr marL="0" indent="0">
              <a:buNone/>
            </a:pPr>
            <a:r>
              <a:rPr lang="en-US" sz="1200" b="1" dirty="0">
                <a:solidFill>
                  <a:schemeClr val="bg1"/>
                </a:solidFill>
              </a:rPr>
              <a:t>No login rate limit</a:t>
            </a:r>
            <a:endParaRPr lang="en-US" sz="1200" dirty="0"/>
          </a:p>
        </p:txBody>
      </p:sp>
      <p:sp>
        <p:nvSpPr>
          <p:cNvPr id="15" name="text227"/>
          <p:cNvSpPr txBox="1"/>
          <p:nvPr/>
        </p:nvSpPr>
        <p:spPr>
          <a:xfrm>
            <a:off x="1554480" y="2523744"/>
            <a:ext cx="4206240" cy="182880"/>
          </a:xfrm>
          <a:prstGeom prst="rect">
            <a:avLst/>
          </a:prstGeom>
          <a:noFill/>
          <a:ln/>
        </p:spPr>
        <p:txBody>
          <a:bodyPr wrap="square" lIns="0" tIns="0" rIns="0" bIns="0" rtlCol="0" anchor="t"/>
          <a:lstStyle/>
          <a:p>
            <a:pPr marL="0" indent="0">
              <a:buNone/>
            </a:pPr>
            <a:r>
              <a:rPr lang="en-US" sz="1000" dirty="0">
                <a:solidFill>
                  <a:schemeClr val="bg2"/>
                </a:solidFill>
              </a:rPr>
              <a:t>Password guessing is not throttled</a:t>
            </a:r>
            <a:endParaRPr lang="en-US" sz="1000" dirty="0"/>
          </a:p>
        </p:txBody>
      </p:sp>
      <p:sp>
        <p:nvSpPr>
          <p:cNvPr id="16" name="card228"/>
          <p:cNvSpPr/>
          <p:nvPr/>
        </p:nvSpPr>
        <p:spPr>
          <a:xfrm>
            <a:off x="457200" y="2843784"/>
            <a:ext cx="5394960" cy="475488"/>
          </a:xfrm>
          <a:prstGeom prst="roundRect">
            <a:avLst>
              <a:gd name="adj" fmla="val 23077"/>
            </a:avLst>
          </a:prstGeom>
          <a:solidFill>
            <a:schemeClr val="tx2"/>
          </a:solidFill>
          <a:ln w="9525">
            <a:solidFill>
              <a:schemeClr val="accent6"/>
            </a:solidFill>
            <a:prstDash val="solid"/>
          </a:ln>
        </p:spPr>
        <p:txBody>
          <a:bodyPr/>
          <a:lstStyle/>
          <a:p>
            <a:endParaRPr lang="en-US"/>
          </a:p>
        </p:txBody>
      </p:sp>
      <p:sp>
        <p:nvSpPr>
          <p:cNvPr id="17" name="pill229"/>
          <p:cNvSpPr txBox="1"/>
          <p:nvPr/>
        </p:nvSpPr>
        <p:spPr>
          <a:xfrm>
            <a:off x="594360" y="2953512"/>
            <a:ext cx="82296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2"/>
                </a:solidFill>
              </a:rPr>
              <a:t>MEDIUM</a:t>
            </a:r>
            <a:endParaRPr lang="en-US" sz="1000" dirty="0"/>
          </a:p>
        </p:txBody>
      </p:sp>
      <p:sp>
        <p:nvSpPr>
          <p:cNvPr id="18" name="text230"/>
          <p:cNvSpPr txBox="1"/>
          <p:nvPr/>
        </p:nvSpPr>
        <p:spPr>
          <a:xfrm>
            <a:off x="1554480" y="2889504"/>
            <a:ext cx="4206240" cy="201168"/>
          </a:xfrm>
          <a:prstGeom prst="rect">
            <a:avLst/>
          </a:prstGeom>
          <a:noFill/>
          <a:ln/>
        </p:spPr>
        <p:txBody>
          <a:bodyPr wrap="square" lIns="0" tIns="0" rIns="0" bIns="0" rtlCol="0" anchor="t"/>
          <a:lstStyle/>
          <a:p>
            <a:pPr marL="0" indent="0">
              <a:buNone/>
            </a:pPr>
            <a:r>
              <a:rPr lang="en-US" sz="1200" b="1" dirty="0">
                <a:solidFill>
                  <a:schemeClr val="bg1"/>
                </a:solidFill>
              </a:rPr>
              <a:t>Search uses unescaped $regex</a:t>
            </a:r>
            <a:endParaRPr lang="en-US" sz="1200" dirty="0"/>
          </a:p>
        </p:txBody>
      </p:sp>
      <p:sp>
        <p:nvSpPr>
          <p:cNvPr id="19" name="text231"/>
          <p:cNvSpPr txBox="1"/>
          <p:nvPr/>
        </p:nvSpPr>
        <p:spPr>
          <a:xfrm>
            <a:off x="1554480" y="3090672"/>
            <a:ext cx="4206240" cy="182880"/>
          </a:xfrm>
          <a:prstGeom prst="rect">
            <a:avLst/>
          </a:prstGeom>
          <a:noFill/>
          <a:ln/>
        </p:spPr>
        <p:txBody>
          <a:bodyPr wrap="square" lIns="0" tIns="0" rIns="0" bIns="0" rtlCol="0" anchor="t"/>
          <a:lstStyle/>
          <a:p>
            <a:pPr marL="0" indent="0">
              <a:buNone/>
            </a:pPr>
            <a:r>
              <a:rPr lang="en-US" sz="1000" dirty="0">
                <a:solidFill>
                  <a:schemeClr val="bg2"/>
                </a:solidFill>
              </a:rPr>
              <a:t>A crafted search could slow the server</a:t>
            </a:r>
            <a:endParaRPr lang="en-US" sz="1000" dirty="0"/>
          </a:p>
        </p:txBody>
      </p:sp>
      <p:sp>
        <p:nvSpPr>
          <p:cNvPr id="20" name="card232"/>
          <p:cNvSpPr/>
          <p:nvPr/>
        </p:nvSpPr>
        <p:spPr>
          <a:xfrm>
            <a:off x="457200" y="3410712"/>
            <a:ext cx="5394960" cy="475488"/>
          </a:xfrm>
          <a:prstGeom prst="roundRect">
            <a:avLst>
              <a:gd name="adj" fmla="val 23077"/>
            </a:avLst>
          </a:prstGeom>
          <a:solidFill>
            <a:schemeClr val="tx2"/>
          </a:solidFill>
          <a:ln w="9525">
            <a:solidFill>
              <a:schemeClr val="accent6"/>
            </a:solidFill>
            <a:prstDash val="solid"/>
          </a:ln>
        </p:spPr>
        <p:txBody>
          <a:bodyPr/>
          <a:lstStyle/>
          <a:p>
            <a:endParaRPr lang="en-US"/>
          </a:p>
        </p:txBody>
      </p:sp>
      <p:sp>
        <p:nvSpPr>
          <p:cNvPr id="21" name="pill233"/>
          <p:cNvSpPr txBox="1"/>
          <p:nvPr/>
        </p:nvSpPr>
        <p:spPr>
          <a:xfrm>
            <a:off x="594360" y="3520440"/>
            <a:ext cx="82296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2"/>
                </a:solidFill>
              </a:rPr>
              <a:t>MEDIUM</a:t>
            </a:r>
            <a:endParaRPr lang="en-US" sz="1000" dirty="0"/>
          </a:p>
        </p:txBody>
      </p:sp>
      <p:sp>
        <p:nvSpPr>
          <p:cNvPr id="22" name="text234"/>
          <p:cNvSpPr txBox="1"/>
          <p:nvPr/>
        </p:nvSpPr>
        <p:spPr>
          <a:xfrm>
            <a:off x="1554480" y="3456432"/>
            <a:ext cx="4206240" cy="201168"/>
          </a:xfrm>
          <a:prstGeom prst="rect">
            <a:avLst/>
          </a:prstGeom>
          <a:noFill/>
          <a:ln/>
        </p:spPr>
        <p:txBody>
          <a:bodyPr wrap="square" lIns="0" tIns="0" rIns="0" bIns="0" rtlCol="0" anchor="t"/>
          <a:lstStyle/>
          <a:p>
            <a:pPr marL="0" indent="0">
              <a:buNone/>
            </a:pPr>
            <a:r>
              <a:rPr lang="en-US" sz="1200" b="1" dirty="0">
                <a:solidFill>
                  <a:schemeClr val="bg1"/>
                </a:solidFill>
              </a:rPr>
              <a:t>Self-signed HTTPS in development</a:t>
            </a:r>
            <a:endParaRPr lang="en-US" sz="1200" dirty="0"/>
          </a:p>
        </p:txBody>
      </p:sp>
      <p:sp>
        <p:nvSpPr>
          <p:cNvPr id="23" name="text235"/>
          <p:cNvSpPr txBox="1"/>
          <p:nvPr/>
        </p:nvSpPr>
        <p:spPr>
          <a:xfrm>
            <a:off x="1554480" y="3657600"/>
            <a:ext cx="4206240" cy="182880"/>
          </a:xfrm>
          <a:prstGeom prst="rect">
            <a:avLst/>
          </a:prstGeom>
          <a:noFill/>
          <a:ln/>
        </p:spPr>
        <p:txBody>
          <a:bodyPr wrap="square" lIns="0" tIns="0" rIns="0" bIns="0" rtlCol="0" anchor="t"/>
          <a:lstStyle/>
          <a:p>
            <a:pPr marL="0" indent="0">
              <a:buNone/>
            </a:pPr>
            <a:r>
              <a:rPr lang="en-US" sz="1000" dirty="0">
                <a:solidFill>
                  <a:schemeClr val="bg2"/>
                </a:solidFill>
              </a:rPr>
              <a:t>Devices must trust the certificate manually</a:t>
            </a:r>
            <a:endParaRPr lang="en-US" sz="1000" dirty="0"/>
          </a:p>
        </p:txBody>
      </p:sp>
      <p:sp>
        <p:nvSpPr>
          <p:cNvPr id="24" name="card236"/>
          <p:cNvSpPr/>
          <p:nvPr/>
        </p:nvSpPr>
        <p:spPr>
          <a:xfrm>
            <a:off x="457200" y="3977640"/>
            <a:ext cx="5394960" cy="475488"/>
          </a:xfrm>
          <a:prstGeom prst="roundRect">
            <a:avLst>
              <a:gd name="adj" fmla="val 23077"/>
            </a:avLst>
          </a:prstGeom>
          <a:solidFill>
            <a:schemeClr val="tx2"/>
          </a:solidFill>
          <a:ln w="9525">
            <a:solidFill>
              <a:schemeClr val="accent6"/>
            </a:solidFill>
            <a:prstDash val="solid"/>
          </a:ln>
        </p:spPr>
        <p:txBody>
          <a:bodyPr/>
          <a:lstStyle/>
          <a:p>
            <a:endParaRPr lang="en-US"/>
          </a:p>
        </p:txBody>
      </p:sp>
      <p:sp>
        <p:nvSpPr>
          <p:cNvPr id="25" name="pill237"/>
          <p:cNvSpPr txBox="1"/>
          <p:nvPr/>
        </p:nvSpPr>
        <p:spPr>
          <a:xfrm>
            <a:off x="594360" y="4087368"/>
            <a:ext cx="822960" cy="256032"/>
          </a:xfrm>
          <a:prstGeom prst="roundRect">
            <a:avLst>
              <a:gd name="adj" fmla="val 50000"/>
            </a:avLst>
          </a:prstGeom>
          <a:solidFill>
            <a:schemeClr val="accent6"/>
          </a:solidFill>
          <a:ln/>
        </p:spPr>
        <p:txBody>
          <a:bodyPr wrap="square" lIns="0" tIns="0" rIns="0" bIns="0" rtlCol="0" anchor="ctr"/>
          <a:lstStyle/>
          <a:p>
            <a:pPr marL="0" indent="0" algn="ctr">
              <a:buNone/>
            </a:pPr>
            <a:r>
              <a:rPr lang="en-US" sz="1000" b="1" kern="0" spc="100" dirty="0">
                <a:solidFill>
                  <a:schemeClr val="accent4"/>
                </a:solidFill>
              </a:rPr>
              <a:t>LOW</a:t>
            </a:r>
            <a:endParaRPr lang="en-US" sz="1000" dirty="0"/>
          </a:p>
        </p:txBody>
      </p:sp>
      <p:sp>
        <p:nvSpPr>
          <p:cNvPr id="26" name="text238"/>
          <p:cNvSpPr txBox="1"/>
          <p:nvPr/>
        </p:nvSpPr>
        <p:spPr>
          <a:xfrm>
            <a:off x="1554480" y="4023360"/>
            <a:ext cx="4206240" cy="201168"/>
          </a:xfrm>
          <a:prstGeom prst="rect">
            <a:avLst/>
          </a:prstGeom>
          <a:noFill/>
          <a:ln/>
        </p:spPr>
        <p:txBody>
          <a:bodyPr wrap="square" lIns="0" tIns="0" rIns="0" bIns="0" rtlCol="0" anchor="t"/>
          <a:lstStyle/>
          <a:p>
            <a:pPr marL="0" indent="0">
              <a:buNone/>
            </a:pPr>
            <a:r>
              <a:rPr lang="en-US" sz="1200" b="1" dirty="0">
                <a:solidFill>
                  <a:schemeClr val="bg1"/>
                </a:solidFill>
              </a:rPr>
              <a:t>Logout does not revoke the JWT</a:t>
            </a:r>
            <a:endParaRPr lang="en-US" sz="1200" dirty="0"/>
          </a:p>
        </p:txBody>
      </p:sp>
      <p:sp>
        <p:nvSpPr>
          <p:cNvPr id="27" name="text239"/>
          <p:cNvSpPr txBox="1"/>
          <p:nvPr/>
        </p:nvSpPr>
        <p:spPr>
          <a:xfrm>
            <a:off x="1554480" y="4224528"/>
            <a:ext cx="4206240" cy="182880"/>
          </a:xfrm>
          <a:prstGeom prst="rect">
            <a:avLst/>
          </a:prstGeom>
          <a:noFill/>
          <a:ln/>
        </p:spPr>
        <p:txBody>
          <a:bodyPr wrap="square" lIns="0" tIns="0" rIns="0" bIns="0" rtlCol="0" anchor="t"/>
          <a:lstStyle/>
          <a:p>
            <a:pPr marL="0" indent="0">
              <a:buNone/>
            </a:pPr>
            <a:r>
              <a:rPr lang="en-US" sz="1000" dirty="0">
                <a:solidFill>
                  <a:schemeClr val="bg2"/>
                </a:solidFill>
              </a:rPr>
              <a:t>A stolen token stays valid until it expires</a:t>
            </a:r>
            <a:endParaRPr lang="en-US" sz="1000" dirty="0"/>
          </a:p>
        </p:txBody>
      </p:sp>
      <p:sp>
        <p:nvSpPr>
          <p:cNvPr id="28" name="card240"/>
          <p:cNvSpPr/>
          <p:nvPr/>
        </p:nvSpPr>
        <p:spPr>
          <a:xfrm>
            <a:off x="6035040" y="1143000"/>
            <a:ext cx="2651760" cy="3310128"/>
          </a:xfrm>
          <a:prstGeom prst="roundRect">
            <a:avLst>
              <a:gd name="adj" fmla="val 4138"/>
            </a:avLst>
          </a:prstGeom>
          <a:solidFill>
            <a:schemeClr val="tx2"/>
          </a:solidFill>
          <a:ln w="9525">
            <a:solidFill>
              <a:schemeClr val="accent6"/>
            </a:solidFill>
            <a:prstDash val="solid"/>
          </a:ln>
        </p:spPr>
        <p:txBody>
          <a:bodyPr/>
          <a:lstStyle/>
          <a:p>
            <a:endParaRPr lang="en-US"/>
          </a:p>
        </p:txBody>
      </p:sp>
      <p:sp>
        <p:nvSpPr>
          <p:cNvPr id="29" name="text241"/>
          <p:cNvSpPr txBox="1"/>
          <p:nvPr/>
        </p:nvSpPr>
        <p:spPr>
          <a:xfrm>
            <a:off x="6217920" y="1298448"/>
            <a:ext cx="2286000" cy="320040"/>
          </a:xfrm>
          <a:prstGeom prst="rect">
            <a:avLst/>
          </a:prstGeom>
          <a:noFill/>
          <a:ln/>
        </p:spPr>
        <p:txBody>
          <a:bodyPr wrap="square" lIns="0" tIns="0" rIns="0" bIns="0" rtlCol="0" anchor="t"/>
          <a:lstStyle/>
          <a:p>
            <a:pPr marL="0" indent="0">
              <a:buNone/>
            </a:pPr>
            <a:r>
              <a:rPr lang="en-US" sz="1600" b="1" dirty="0">
                <a:solidFill>
                  <a:schemeClr val="accent3"/>
                </a:solidFill>
              </a:rPr>
              <a:t>Already in place</a:t>
            </a:r>
            <a:endParaRPr lang="en-US" sz="1600" dirty="0"/>
          </a:p>
        </p:txBody>
      </p:sp>
      <p:sp>
        <p:nvSpPr>
          <p:cNvPr id="30" name="text242"/>
          <p:cNvSpPr txBox="1"/>
          <p:nvPr/>
        </p:nvSpPr>
        <p:spPr>
          <a:xfrm>
            <a:off x="6217920" y="1737360"/>
            <a:ext cx="2286000" cy="265176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chemeClr val="bg1"/>
                </a:solidFill>
              </a:rPr>
              <a:t>Passwords stored as bcrypt hashes</a:t>
            </a:r>
            <a:endParaRPr lang="en-US" sz="1200" dirty="0"/>
          </a:p>
          <a:p>
            <a:pPr marL="342900" indent="-342900">
              <a:spcAft>
                <a:spcPts val="700"/>
              </a:spcAft>
              <a:buSzPct val="100000"/>
              <a:buChar char="•"/>
            </a:pPr>
            <a:r>
              <a:rPr lang="en-US" sz="1200" dirty="0">
                <a:solidFill>
                  <a:schemeClr val="bg1"/>
                </a:solidFill>
              </a:rPr>
              <a:t>Secrets only in environment variables</a:t>
            </a:r>
            <a:endParaRPr lang="en-US" sz="1200" dirty="0"/>
          </a:p>
          <a:p>
            <a:pPr marL="342900" indent="-342900">
              <a:spcAft>
                <a:spcPts val="700"/>
              </a:spcAft>
              <a:buSzPct val="100000"/>
              <a:buChar char="•"/>
            </a:pPr>
            <a:r>
              <a:rPr lang="en-US" sz="1200" dirty="0">
                <a:solidFill>
                  <a:schemeClr val="bg1"/>
                </a:solidFill>
              </a:rPr>
              <a:t>Owner checks on edit and delete</a:t>
            </a:r>
            <a:endParaRPr lang="en-US" sz="1200" dirty="0"/>
          </a:p>
          <a:p>
            <a:pPr marL="342900" indent="-342900">
              <a:spcAft>
                <a:spcPts val="700"/>
              </a:spcAft>
              <a:buSzPct val="100000"/>
              <a:buChar char="•"/>
            </a:pPr>
            <a:r>
              <a:rPr lang="en-US" sz="1200" dirty="0">
                <a:solidFill>
                  <a:schemeClr val="bg1"/>
                </a:solidFill>
              </a:rPr>
              <a:t>Listing text escaped before display</a:t>
            </a:r>
            <a:endParaRPr lang="en-US" sz="1200" dirty="0"/>
          </a:p>
          <a:p>
            <a:pPr marL="342900" indent="-342900">
              <a:spcAft>
                <a:spcPts val="700"/>
              </a:spcAft>
              <a:buSzPct val="100000"/>
              <a:buChar char="•"/>
            </a:pPr>
            <a:r>
              <a:rPr lang="en-US" sz="1200" dirty="0">
                <a:solidFill>
                  <a:schemeClr val="bg1"/>
                </a:solidFill>
              </a:rPr>
              <a:t>Login gives the same error for wrong email or password</a:t>
            </a:r>
            <a:endParaRPr lang="en-US" sz="1200" dirty="0"/>
          </a:p>
        </p:txBody>
      </p:sp>
      <p:sp>
        <p:nvSpPr>
          <p:cNvPr id="31"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Dependency scan found 6 vulnerabilities</a:t>
            </a:r>
            <a:endParaRPr lang="en-US" sz="3000" dirty="0"/>
          </a:p>
        </p:txBody>
      </p:sp>
      <p:sp>
        <p:nvSpPr>
          <p:cNvPr id="3" name="text243"/>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npm audit on production dependencies (preliminary)</a:t>
            </a:r>
            <a:endParaRPr lang="en-US" sz="1400" dirty="0"/>
          </a:p>
        </p:txBody>
      </p:sp>
      <p:sp>
        <p:nvSpPr>
          <p:cNvPr id="4" name="card244"/>
          <p:cNvSpPr/>
          <p:nvPr/>
        </p:nvSpPr>
        <p:spPr>
          <a:xfrm>
            <a:off x="457200" y="1143000"/>
            <a:ext cx="1280160" cy="1371600"/>
          </a:xfrm>
          <a:prstGeom prst="roundRect">
            <a:avLst>
              <a:gd name="adj" fmla="val 8571"/>
            </a:avLst>
          </a:prstGeom>
          <a:solidFill>
            <a:schemeClr val="tx2"/>
          </a:solidFill>
          <a:ln w="9525">
            <a:solidFill>
              <a:schemeClr val="accent6"/>
            </a:solidFill>
            <a:prstDash val="solid"/>
          </a:ln>
        </p:spPr>
        <p:txBody>
          <a:bodyPr/>
          <a:lstStyle/>
          <a:p>
            <a:endParaRPr lang="en-US"/>
          </a:p>
        </p:txBody>
      </p:sp>
      <p:sp>
        <p:nvSpPr>
          <p:cNvPr id="5" name="text245"/>
          <p:cNvSpPr txBox="1"/>
          <p:nvPr/>
        </p:nvSpPr>
        <p:spPr>
          <a:xfrm>
            <a:off x="457200" y="1188720"/>
            <a:ext cx="1280160" cy="822960"/>
          </a:xfrm>
          <a:prstGeom prst="rect">
            <a:avLst/>
          </a:prstGeom>
          <a:noFill/>
          <a:ln/>
        </p:spPr>
        <p:txBody>
          <a:bodyPr wrap="square" lIns="0" tIns="0" rIns="0" bIns="0" rtlCol="0" anchor="ctr"/>
          <a:lstStyle/>
          <a:p>
            <a:pPr marL="0" indent="0" algn="ctr">
              <a:buNone/>
            </a:pPr>
            <a:r>
              <a:rPr lang="en-US" sz="4800" b="1" dirty="0">
                <a:solidFill>
                  <a:schemeClr val="accent5"/>
                </a:solidFill>
              </a:rPr>
              <a:t>1</a:t>
            </a:r>
            <a:endParaRPr lang="en-US" sz="4800" dirty="0"/>
          </a:p>
        </p:txBody>
      </p:sp>
      <p:sp>
        <p:nvSpPr>
          <p:cNvPr id="6" name="text246"/>
          <p:cNvSpPr txBox="1"/>
          <p:nvPr/>
        </p:nvSpPr>
        <p:spPr>
          <a:xfrm>
            <a:off x="457200" y="2011680"/>
            <a:ext cx="1280160" cy="274320"/>
          </a:xfrm>
          <a:prstGeom prst="rect">
            <a:avLst/>
          </a:prstGeom>
          <a:noFill/>
          <a:ln/>
        </p:spPr>
        <p:txBody>
          <a:bodyPr wrap="square" lIns="0" tIns="0" rIns="0" bIns="0" rtlCol="0" anchor="t"/>
          <a:lstStyle/>
          <a:p>
            <a:pPr marL="0" indent="0" algn="ctr">
              <a:buNone/>
            </a:pPr>
            <a:r>
              <a:rPr lang="en-US" sz="1300" dirty="0">
                <a:solidFill>
                  <a:schemeClr val="bg1"/>
                </a:solidFill>
              </a:rPr>
              <a:t>Critical</a:t>
            </a:r>
            <a:endParaRPr lang="en-US" sz="1300" dirty="0"/>
          </a:p>
        </p:txBody>
      </p:sp>
      <p:sp>
        <p:nvSpPr>
          <p:cNvPr id="7" name="card247"/>
          <p:cNvSpPr/>
          <p:nvPr/>
        </p:nvSpPr>
        <p:spPr>
          <a:xfrm>
            <a:off x="1874520" y="1143000"/>
            <a:ext cx="1280160" cy="1371600"/>
          </a:xfrm>
          <a:prstGeom prst="roundRect">
            <a:avLst>
              <a:gd name="adj" fmla="val 8571"/>
            </a:avLst>
          </a:prstGeom>
          <a:solidFill>
            <a:schemeClr val="tx2"/>
          </a:solidFill>
          <a:ln w="9525">
            <a:solidFill>
              <a:schemeClr val="accent6"/>
            </a:solidFill>
            <a:prstDash val="solid"/>
          </a:ln>
        </p:spPr>
        <p:txBody>
          <a:bodyPr/>
          <a:lstStyle/>
          <a:p>
            <a:endParaRPr lang="en-US"/>
          </a:p>
        </p:txBody>
      </p:sp>
      <p:sp>
        <p:nvSpPr>
          <p:cNvPr id="8" name="text248"/>
          <p:cNvSpPr txBox="1"/>
          <p:nvPr/>
        </p:nvSpPr>
        <p:spPr>
          <a:xfrm>
            <a:off x="1874520" y="1188720"/>
            <a:ext cx="1280160" cy="822960"/>
          </a:xfrm>
          <a:prstGeom prst="rect">
            <a:avLst/>
          </a:prstGeom>
          <a:noFill/>
          <a:ln/>
        </p:spPr>
        <p:txBody>
          <a:bodyPr wrap="square" lIns="0" tIns="0" rIns="0" bIns="0" rtlCol="0" anchor="ctr"/>
          <a:lstStyle/>
          <a:p>
            <a:pPr marL="0" indent="0" algn="ctr">
              <a:buNone/>
            </a:pPr>
            <a:r>
              <a:rPr lang="en-US" sz="4800" b="1" dirty="0">
                <a:solidFill>
                  <a:schemeClr val="accent2"/>
                </a:solidFill>
              </a:rPr>
              <a:t>3</a:t>
            </a:r>
            <a:endParaRPr lang="en-US" sz="4800" dirty="0"/>
          </a:p>
        </p:txBody>
      </p:sp>
      <p:sp>
        <p:nvSpPr>
          <p:cNvPr id="9" name="text249"/>
          <p:cNvSpPr txBox="1"/>
          <p:nvPr/>
        </p:nvSpPr>
        <p:spPr>
          <a:xfrm>
            <a:off x="1874520" y="2011680"/>
            <a:ext cx="1280160" cy="274320"/>
          </a:xfrm>
          <a:prstGeom prst="rect">
            <a:avLst/>
          </a:prstGeom>
          <a:noFill/>
          <a:ln/>
        </p:spPr>
        <p:txBody>
          <a:bodyPr wrap="square" lIns="0" tIns="0" rIns="0" bIns="0" rtlCol="0" anchor="t"/>
          <a:lstStyle/>
          <a:p>
            <a:pPr marL="0" indent="0" algn="ctr">
              <a:buNone/>
            </a:pPr>
            <a:r>
              <a:rPr lang="en-US" sz="1300" dirty="0">
                <a:solidFill>
                  <a:schemeClr val="bg1"/>
                </a:solidFill>
              </a:rPr>
              <a:t>High</a:t>
            </a:r>
            <a:endParaRPr lang="en-US" sz="1300" dirty="0"/>
          </a:p>
        </p:txBody>
      </p:sp>
      <p:sp>
        <p:nvSpPr>
          <p:cNvPr id="10" name="card250"/>
          <p:cNvSpPr/>
          <p:nvPr/>
        </p:nvSpPr>
        <p:spPr>
          <a:xfrm>
            <a:off x="3291840" y="1143000"/>
            <a:ext cx="1280160" cy="1371600"/>
          </a:xfrm>
          <a:prstGeom prst="roundRect">
            <a:avLst>
              <a:gd name="adj" fmla="val 8571"/>
            </a:avLst>
          </a:prstGeom>
          <a:solidFill>
            <a:schemeClr val="tx2"/>
          </a:solidFill>
          <a:ln w="9525">
            <a:solidFill>
              <a:schemeClr val="accent6"/>
            </a:solidFill>
            <a:prstDash val="solid"/>
          </a:ln>
        </p:spPr>
        <p:txBody>
          <a:bodyPr/>
          <a:lstStyle/>
          <a:p>
            <a:endParaRPr lang="en-US"/>
          </a:p>
        </p:txBody>
      </p:sp>
      <p:sp>
        <p:nvSpPr>
          <p:cNvPr id="11" name="text251"/>
          <p:cNvSpPr txBox="1"/>
          <p:nvPr/>
        </p:nvSpPr>
        <p:spPr>
          <a:xfrm>
            <a:off x="3291840" y="1188720"/>
            <a:ext cx="1280160" cy="822960"/>
          </a:xfrm>
          <a:prstGeom prst="rect">
            <a:avLst/>
          </a:prstGeom>
          <a:noFill/>
          <a:ln/>
        </p:spPr>
        <p:txBody>
          <a:bodyPr wrap="square" lIns="0" tIns="0" rIns="0" bIns="0" rtlCol="0" anchor="ctr"/>
          <a:lstStyle/>
          <a:p>
            <a:pPr marL="0" indent="0" algn="ctr">
              <a:buNone/>
            </a:pPr>
            <a:r>
              <a:rPr lang="en-US" sz="4800" b="1" dirty="0">
                <a:solidFill>
                  <a:schemeClr val="accent4"/>
                </a:solidFill>
              </a:rPr>
              <a:t>2</a:t>
            </a:r>
            <a:endParaRPr lang="en-US" sz="4800" dirty="0"/>
          </a:p>
        </p:txBody>
      </p:sp>
      <p:sp>
        <p:nvSpPr>
          <p:cNvPr id="12" name="text252"/>
          <p:cNvSpPr txBox="1"/>
          <p:nvPr/>
        </p:nvSpPr>
        <p:spPr>
          <a:xfrm>
            <a:off x="3291840" y="2011680"/>
            <a:ext cx="1280160" cy="274320"/>
          </a:xfrm>
          <a:prstGeom prst="rect">
            <a:avLst/>
          </a:prstGeom>
          <a:noFill/>
          <a:ln/>
        </p:spPr>
        <p:txBody>
          <a:bodyPr wrap="square" lIns="0" tIns="0" rIns="0" bIns="0" rtlCol="0" anchor="t"/>
          <a:lstStyle/>
          <a:p>
            <a:pPr marL="0" indent="0" algn="ctr">
              <a:buNone/>
            </a:pPr>
            <a:r>
              <a:rPr lang="en-US" sz="1300" dirty="0">
                <a:solidFill>
                  <a:schemeClr val="bg1"/>
                </a:solidFill>
              </a:rPr>
              <a:t>Moderate</a:t>
            </a:r>
            <a:endParaRPr lang="en-US" sz="1300" dirty="0"/>
          </a:p>
        </p:txBody>
      </p:sp>
      <p:sp>
        <p:nvSpPr>
          <p:cNvPr id="13" name="text253"/>
          <p:cNvSpPr txBox="1"/>
          <p:nvPr/>
        </p:nvSpPr>
        <p:spPr>
          <a:xfrm>
            <a:off x="457200" y="2697480"/>
            <a:ext cx="4114800" cy="457200"/>
          </a:xfrm>
          <a:prstGeom prst="rect">
            <a:avLst/>
          </a:prstGeom>
          <a:noFill/>
          <a:ln/>
        </p:spPr>
        <p:txBody>
          <a:bodyPr wrap="square" lIns="0" tIns="0" rIns="0" bIns="0" rtlCol="0" anchor="t"/>
          <a:lstStyle/>
          <a:p>
            <a:pPr marL="0" indent="0">
              <a:buNone/>
            </a:pPr>
            <a:r>
              <a:rPr lang="en-US" sz="1200" dirty="0">
                <a:solidFill>
                  <a:schemeClr val="bg2"/>
                </a:solidFill>
              </a:rPr>
              <a:t>npm audit on the server's production dependencies, 6 October 2026. Reported only, not fixed.</a:t>
            </a:r>
            <a:endParaRPr lang="en-US" sz="1200" dirty="0"/>
          </a:p>
        </p:txBody>
      </p:sp>
      <p:sp>
        <p:nvSpPr>
          <p:cNvPr id="14" name="card254"/>
          <p:cNvSpPr/>
          <p:nvPr/>
        </p:nvSpPr>
        <p:spPr>
          <a:xfrm>
            <a:off x="457200" y="3291840"/>
            <a:ext cx="4114800" cy="1188720"/>
          </a:xfrm>
          <a:prstGeom prst="roundRect">
            <a:avLst>
              <a:gd name="adj" fmla="val 9231"/>
            </a:avLst>
          </a:prstGeom>
          <a:solidFill>
            <a:schemeClr val="tx2"/>
          </a:solidFill>
          <a:ln w="9525">
            <a:solidFill>
              <a:schemeClr val="accent6"/>
            </a:solidFill>
            <a:prstDash val="solid"/>
          </a:ln>
        </p:spPr>
        <p:txBody>
          <a:bodyPr/>
          <a:lstStyle/>
          <a:p>
            <a:endParaRPr lang="en-US"/>
          </a:p>
        </p:txBody>
      </p:sp>
      <p:sp>
        <p:nvSpPr>
          <p:cNvPr id="15" name="text255"/>
          <p:cNvSpPr txBox="1"/>
          <p:nvPr/>
        </p:nvSpPr>
        <p:spPr>
          <a:xfrm>
            <a:off x="640080" y="3401568"/>
            <a:ext cx="3749040" cy="274320"/>
          </a:xfrm>
          <a:prstGeom prst="rect">
            <a:avLst/>
          </a:prstGeom>
          <a:noFill/>
          <a:ln/>
        </p:spPr>
        <p:txBody>
          <a:bodyPr wrap="square" lIns="0" tIns="0" rIns="0" bIns="0" rtlCol="0" anchor="t"/>
          <a:lstStyle/>
          <a:p>
            <a:pPr marL="0" indent="0">
              <a:buNone/>
            </a:pPr>
            <a:r>
              <a:rPr lang="en-US" sz="1400" b="1" dirty="0">
                <a:solidFill>
                  <a:schemeClr val="accent1"/>
                </a:solidFill>
              </a:rPr>
              <a:t>Next step</a:t>
            </a:r>
            <a:endParaRPr lang="en-US" sz="1400" dirty="0"/>
          </a:p>
        </p:txBody>
      </p:sp>
      <p:sp>
        <p:nvSpPr>
          <p:cNvPr id="16" name="text256"/>
          <p:cNvSpPr txBox="1"/>
          <p:nvPr/>
        </p:nvSpPr>
        <p:spPr>
          <a:xfrm>
            <a:off x="640080" y="3703320"/>
            <a:ext cx="3749040" cy="640080"/>
          </a:xfrm>
          <a:prstGeom prst="rect">
            <a:avLst/>
          </a:prstGeom>
          <a:noFill/>
          <a:ln/>
        </p:spPr>
        <p:txBody>
          <a:bodyPr wrap="square" lIns="0" tIns="0" rIns="0" bIns="0" rtlCol="0" anchor="t"/>
          <a:lstStyle/>
          <a:p>
            <a:pPr marL="0" indent="0">
              <a:buNone/>
            </a:pPr>
            <a:r>
              <a:rPr lang="en-US" sz="1200" dirty="0">
                <a:solidFill>
                  <a:schemeClr val="bg1"/>
                </a:solidFill>
              </a:rPr>
              <a:t>Confirm with the Snyk scan from the Week 11 tutorial and add its screenshot here.</a:t>
            </a:r>
            <a:endParaRPr lang="en-US" sz="1200" dirty="0"/>
          </a:p>
        </p:txBody>
      </p:sp>
      <p:sp>
        <p:nvSpPr>
          <p:cNvPr id="17" name="card257"/>
          <p:cNvSpPr/>
          <p:nvPr/>
        </p:nvSpPr>
        <p:spPr>
          <a:xfrm>
            <a:off x="4800600" y="1143000"/>
            <a:ext cx="3886200" cy="758952"/>
          </a:xfrm>
          <a:prstGeom prst="roundRect">
            <a:avLst>
              <a:gd name="adj" fmla="val 14458"/>
            </a:avLst>
          </a:prstGeom>
          <a:solidFill>
            <a:schemeClr val="tx2"/>
          </a:solidFill>
          <a:ln w="9525">
            <a:solidFill>
              <a:schemeClr val="accent6"/>
            </a:solidFill>
            <a:prstDash val="solid"/>
          </a:ln>
        </p:spPr>
        <p:txBody>
          <a:bodyPr/>
          <a:lstStyle/>
          <a:p>
            <a:endParaRPr lang="en-US"/>
          </a:p>
        </p:txBody>
      </p:sp>
      <p:sp>
        <p:nvSpPr>
          <p:cNvPr id="18" name="text258"/>
          <p:cNvSpPr txBox="1"/>
          <p:nvPr/>
        </p:nvSpPr>
        <p:spPr>
          <a:xfrm>
            <a:off x="4956048" y="1234440"/>
            <a:ext cx="2194560" cy="228600"/>
          </a:xfrm>
          <a:prstGeom prst="rect">
            <a:avLst/>
          </a:prstGeom>
          <a:noFill/>
          <a:ln/>
        </p:spPr>
        <p:txBody>
          <a:bodyPr wrap="square" lIns="0" tIns="0" rIns="0" bIns="0" rtlCol="0" anchor="t"/>
          <a:lstStyle/>
          <a:p>
            <a:pPr marL="0" indent="0">
              <a:buNone/>
            </a:pPr>
            <a:r>
              <a:rPr lang="en-US" sz="1300" b="1" dirty="0">
                <a:solidFill>
                  <a:schemeClr val="bg1"/>
                </a:solidFill>
                <a:latin typeface="Courier New" pitchFamily="34" charset="0"/>
                <a:ea typeface="Courier New" pitchFamily="34" charset="-122"/>
                <a:cs typeface="Courier New" pitchFamily="34" charset="-120"/>
              </a:rPr>
              <a:t>tar</a:t>
            </a:r>
            <a:endParaRPr lang="en-US" sz="1300" dirty="0"/>
          </a:p>
        </p:txBody>
      </p:sp>
      <p:sp>
        <p:nvSpPr>
          <p:cNvPr id="19" name="pill259"/>
          <p:cNvSpPr txBox="1"/>
          <p:nvPr/>
        </p:nvSpPr>
        <p:spPr>
          <a:xfrm>
            <a:off x="7498080" y="1234440"/>
            <a:ext cx="1051560" cy="228600"/>
          </a:xfrm>
          <a:prstGeom prst="roundRect">
            <a:avLst>
              <a:gd name="adj" fmla="val 56000"/>
            </a:avLst>
          </a:prstGeom>
          <a:solidFill>
            <a:schemeClr val="accent6"/>
          </a:solidFill>
          <a:ln/>
        </p:spPr>
        <p:txBody>
          <a:bodyPr wrap="square" lIns="0" tIns="0" rIns="0" bIns="0" rtlCol="0" anchor="ctr"/>
          <a:lstStyle/>
          <a:p>
            <a:pPr marL="0" indent="0" algn="ctr">
              <a:buNone/>
            </a:pPr>
            <a:r>
              <a:rPr lang="en-US" sz="1000" b="1" kern="0" spc="100" dirty="0">
                <a:solidFill>
                  <a:schemeClr val="accent5"/>
                </a:solidFill>
              </a:rPr>
              <a:t>CRITICAL</a:t>
            </a:r>
            <a:endParaRPr lang="en-US" sz="1000" dirty="0"/>
          </a:p>
        </p:txBody>
      </p:sp>
      <p:sp>
        <p:nvSpPr>
          <p:cNvPr id="20" name="text260"/>
          <p:cNvSpPr txBox="1"/>
          <p:nvPr/>
        </p:nvSpPr>
        <p:spPr>
          <a:xfrm>
            <a:off x="4956048" y="1508760"/>
            <a:ext cx="3611880" cy="365760"/>
          </a:xfrm>
          <a:prstGeom prst="rect">
            <a:avLst/>
          </a:prstGeom>
          <a:noFill/>
          <a:ln/>
        </p:spPr>
        <p:txBody>
          <a:bodyPr wrap="square" lIns="0" tIns="0" rIns="0" bIns="0" rtlCol="0" anchor="t"/>
          <a:lstStyle/>
          <a:p>
            <a:pPr marL="0" indent="0">
              <a:buNone/>
            </a:pPr>
            <a:r>
              <a:rPr lang="en-US" sz="1000" dirty="0">
                <a:solidFill>
                  <a:schemeClr val="bg2"/>
                </a:solidFill>
              </a:rPr>
              <a:t>Path traversal and file overwrite when extracting archives. Reached through bcrypt's installer.</a:t>
            </a:r>
            <a:endParaRPr lang="en-US" sz="1000" dirty="0"/>
          </a:p>
        </p:txBody>
      </p:sp>
      <p:sp>
        <p:nvSpPr>
          <p:cNvPr id="21" name="card261"/>
          <p:cNvSpPr/>
          <p:nvPr/>
        </p:nvSpPr>
        <p:spPr>
          <a:xfrm>
            <a:off x="4800600" y="1993392"/>
            <a:ext cx="3886200" cy="758952"/>
          </a:xfrm>
          <a:prstGeom prst="roundRect">
            <a:avLst>
              <a:gd name="adj" fmla="val 14458"/>
            </a:avLst>
          </a:prstGeom>
          <a:solidFill>
            <a:schemeClr val="tx2"/>
          </a:solidFill>
          <a:ln w="9525">
            <a:solidFill>
              <a:schemeClr val="accent6"/>
            </a:solidFill>
            <a:prstDash val="solid"/>
          </a:ln>
        </p:spPr>
        <p:txBody>
          <a:bodyPr/>
          <a:lstStyle/>
          <a:p>
            <a:endParaRPr lang="en-US"/>
          </a:p>
        </p:txBody>
      </p:sp>
      <p:sp>
        <p:nvSpPr>
          <p:cNvPr id="22" name="text262"/>
          <p:cNvSpPr txBox="1"/>
          <p:nvPr/>
        </p:nvSpPr>
        <p:spPr>
          <a:xfrm>
            <a:off x="4956048" y="2084832"/>
            <a:ext cx="2194560" cy="228600"/>
          </a:xfrm>
          <a:prstGeom prst="rect">
            <a:avLst/>
          </a:prstGeom>
          <a:noFill/>
          <a:ln/>
        </p:spPr>
        <p:txBody>
          <a:bodyPr wrap="square" lIns="0" tIns="0" rIns="0" bIns="0" rtlCol="0" anchor="t"/>
          <a:lstStyle/>
          <a:p>
            <a:pPr marL="0" indent="0">
              <a:buNone/>
            </a:pPr>
            <a:r>
              <a:rPr lang="en-US" sz="1300" b="1" dirty="0">
                <a:solidFill>
                  <a:schemeClr val="bg1"/>
                </a:solidFill>
                <a:latin typeface="Courier New" pitchFamily="34" charset="0"/>
                <a:ea typeface="Courier New" pitchFamily="34" charset="-122"/>
                <a:cs typeface="Courier New" pitchFamily="34" charset="-120"/>
              </a:rPr>
              <a:t>bcrypt 5.1.1</a:t>
            </a:r>
            <a:endParaRPr lang="en-US" sz="1300" dirty="0"/>
          </a:p>
        </p:txBody>
      </p:sp>
      <p:sp>
        <p:nvSpPr>
          <p:cNvPr id="23" name="pill263"/>
          <p:cNvSpPr txBox="1"/>
          <p:nvPr/>
        </p:nvSpPr>
        <p:spPr>
          <a:xfrm>
            <a:off x="7498080" y="2084832"/>
            <a:ext cx="1051560" cy="228600"/>
          </a:xfrm>
          <a:prstGeom prst="roundRect">
            <a:avLst>
              <a:gd name="adj" fmla="val 56000"/>
            </a:avLst>
          </a:prstGeom>
          <a:solidFill>
            <a:schemeClr val="accent6"/>
          </a:solidFill>
          <a:ln/>
        </p:spPr>
        <p:txBody>
          <a:bodyPr wrap="square" lIns="0" tIns="0" rIns="0" bIns="0" rtlCol="0" anchor="ctr"/>
          <a:lstStyle/>
          <a:p>
            <a:pPr marL="0" indent="0" algn="ctr">
              <a:buNone/>
            </a:pPr>
            <a:r>
              <a:rPr lang="en-US" sz="1000" b="1" kern="0" spc="100" dirty="0">
                <a:solidFill>
                  <a:schemeClr val="accent2"/>
                </a:solidFill>
              </a:rPr>
              <a:t>HIGH</a:t>
            </a:r>
            <a:endParaRPr lang="en-US" sz="1000" dirty="0"/>
          </a:p>
        </p:txBody>
      </p:sp>
      <p:sp>
        <p:nvSpPr>
          <p:cNvPr id="24" name="text264"/>
          <p:cNvSpPr txBox="1"/>
          <p:nvPr/>
        </p:nvSpPr>
        <p:spPr>
          <a:xfrm>
            <a:off x="4956048" y="2359152"/>
            <a:ext cx="3611880" cy="365760"/>
          </a:xfrm>
          <a:prstGeom prst="rect">
            <a:avLst/>
          </a:prstGeom>
          <a:noFill/>
          <a:ln/>
        </p:spPr>
        <p:txBody>
          <a:bodyPr wrap="square" lIns="0" tIns="0" rIns="0" bIns="0" rtlCol="0" anchor="t"/>
          <a:lstStyle/>
          <a:p>
            <a:pPr marL="0" indent="0">
              <a:buNone/>
            </a:pPr>
            <a:r>
              <a:rPr lang="en-US" sz="1000" dirty="0">
                <a:solidFill>
                  <a:schemeClr val="bg2"/>
                </a:solidFill>
              </a:rPr>
              <a:t>Flagged because it depends on the vulnerable tar. Fixed in bcrypt 6, a breaking upgrade.</a:t>
            </a:r>
            <a:endParaRPr lang="en-US" sz="1000" dirty="0"/>
          </a:p>
        </p:txBody>
      </p:sp>
      <p:sp>
        <p:nvSpPr>
          <p:cNvPr id="25" name="card265"/>
          <p:cNvSpPr/>
          <p:nvPr/>
        </p:nvSpPr>
        <p:spPr>
          <a:xfrm>
            <a:off x="4800600" y="2843784"/>
            <a:ext cx="3886200" cy="758952"/>
          </a:xfrm>
          <a:prstGeom prst="roundRect">
            <a:avLst>
              <a:gd name="adj" fmla="val 14458"/>
            </a:avLst>
          </a:prstGeom>
          <a:solidFill>
            <a:schemeClr val="tx2"/>
          </a:solidFill>
          <a:ln w="9525">
            <a:solidFill>
              <a:schemeClr val="accent6"/>
            </a:solidFill>
            <a:prstDash val="solid"/>
          </a:ln>
        </p:spPr>
        <p:txBody>
          <a:bodyPr/>
          <a:lstStyle/>
          <a:p>
            <a:endParaRPr lang="en-US"/>
          </a:p>
        </p:txBody>
      </p:sp>
      <p:sp>
        <p:nvSpPr>
          <p:cNvPr id="26" name="text266"/>
          <p:cNvSpPr txBox="1"/>
          <p:nvPr/>
        </p:nvSpPr>
        <p:spPr>
          <a:xfrm>
            <a:off x="4956048" y="2935224"/>
            <a:ext cx="2194560" cy="228600"/>
          </a:xfrm>
          <a:prstGeom prst="rect">
            <a:avLst/>
          </a:prstGeom>
          <a:noFill/>
          <a:ln/>
        </p:spPr>
        <p:txBody>
          <a:bodyPr wrap="square" lIns="0" tIns="0" rIns="0" bIns="0" rtlCol="0" anchor="t"/>
          <a:lstStyle/>
          <a:p>
            <a:pPr marL="0" indent="0">
              <a:buNone/>
            </a:pPr>
            <a:r>
              <a:rPr lang="en-US" sz="1300" b="1" dirty="0">
                <a:solidFill>
                  <a:schemeClr val="bg1"/>
                </a:solidFill>
                <a:latin typeface="Courier New" pitchFamily="34" charset="0"/>
                <a:ea typeface="Courier New" pitchFamily="34" charset="-122"/>
                <a:cs typeface="Courier New" pitchFamily="34" charset="-120"/>
              </a:rPr>
              <a:t>qs</a:t>
            </a:r>
            <a:endParaRPr lang="en-US" sz="1300" dirty="0"/>
          </a:p>
        </p:txBody>
      </p:sp>
      <p:sp>
        <p:nvSpPr>
          <p:cNvPr id="27" name="pill267"/>
          <p:cNvSpPr txBox="1"/>
          <p:nvPr/>
        </p:nvSpPr>
        <p:spPr>
          <a:xfrm>
            <a:off x="7498080" y="2935224"/>
            <a:ext cx="1051560" cy="228600"/>
          </a:xfrm>
          <a:prstGeom prst="roundRect">
            <a:avLst>
              <a:gd name="adj" fmla="val 56000"/>
            </a:avLst>
          </a:prstGeom>
          <a:solidFill>
            <a:schemeClr val="accent6"/>
          </a:solidFill>
          <a:ln/>
        </p:spPr>
        <p:txBody>
          <a:bodyPr wrap="square" lIns="0" tIns="0" rIns="0" bIns="0" rtlCol="0" anchor="ctr"/>
          <a:lstStyle/>
          <a:p>
            <a:pPr marL="0" indent="0" algn="ctr">
              <a:buNone/>
            </a:pPr>
            <a:r>
              <a:rPr lang="en-US" sz="1000" b="1" kern="0" spc="100" dirty="0">
                <a:solidFill>
                  <a:schemeClr val="accent4"/>
                </a:solidFill>
              </a:rPr>
              <a:t>MODERATE</a:t>
            </a:r>
            <a:endParaRPr lang="en-US" sz="1000" dirty="0"/>
          </a:p>
        </p:txBody>
      </p:sp>
      <p:sp>
        <p:nvSpPr>
          <p:cNvPr id="28" name="text268"/>
          <p:cNvSpPr txBox="1"/>
          <p:nvPr/>
        </p:nvSpPr>
        <p:spPr>
          <a:xfrm>
            <a:off x="4956048" y="3209544"/>
            <a:ext cx="3611880" cy="365760"/>
          </a:xfrm>
          <a:prstGeom prst="rect">
            <a:avLst/>
          </a:prstGeom>
          <a:noFill/>
          <a:ln/>
        </p:spPr>
        <p:txBody>
          <a:bodyPr wrap="square" lIns="0" tIns="0" rIns="0" bIns="0" rtlCol="0" anchor="t"/>
          <a:lstStyle/>
          <a:p>
            <a:pPr marL="0" indent="0">
              <a:buNone/>
            </a:pPr>
            <a:r>
              <a:rPr lang="en-US" sz="1000" dirty="0">
                <a:solidFill>
                  <a:schemeClr val="bg2"/>
                </a:solidFill>
              </a:rPr>
              <a:t>Denial of service through crafted query strings. Reached through express.</a:t>
            </a:r>
            <a:endParaRPr lang="en-US" sz="1000" dirty="0"/>
          </a:p>
        </p:txBody>
      </p:sp>
      <p:sp>
        <p:nvSpPr>
          <p:cNvPr id="29" name="card269"/>
          <p:cNvSpPr/>
          <p:nvPr/>
        </p:nvSpPr>
        <p:spPr>
          <a:xfrm>
            <a:off x="4800600" y="3694176"/>
            <a:ext cx="3886200" cy="758952"/>
          </a:xfrm>
          <a:prstGeom prst="roundRect">
            <a:avLst>
              <a:gd name="adj" fmla="val 14458"/>
            </a:avLst>
          </a:prstGeom>
          <a:solidFill>
            <a:schemeClr val="tx2"/>
          </a:solidFill>
          <a:ln w="9525">
            <a:solidFill>
              <a:schemeClr val="accent6"/>
            </a:solidFill>
            <a:prstDash val="solid"/>
          </a:ln>
        </p:spPr>
        <p:txBody>
          <a:bodyPr/>
          <a:lstStyle/>
          <a:p>
            <a:endParaRPr lang="en-US"/>
          </a:p>
        </p:txBody>
      </p:sp>
      <p:sp>
        <p:nvSpPr>
          <p:cNvPr id="30" name="text270"/>
          <p:cNvSpPr txBox="1"/>
          <p:nvPr/>
        </p:nvSpPr>
        <p:spPr>
          <a:xfrm>
            <a:off x="4956048" y="3785616"/>
            <a:ext cx="2194560" cy="228600"/>
          </a:xfrm>
          <a:prstGeom prst="rect">
            <a:avLst/>
          </a:prstGeom>
          <a:noFill/>
          <a:ln/>
        </p:spPr>
        <p:txBody>
          <a:bodyPr wrap="square" lIns="0" tIns="0" rIns="0" bIns="0" rtlCol="0" anchor="t"/>
          <a:lstStyle/>
          <a:p>
            <a:pPr marL="0" indent="0">
              <a:buNone/>
            </a:pPr>
            <a:r>
              <a:rPr lang="en-US" sz="1300" b="1" dirty="0">
                <a:solidFill>
                  <a:schemeClr val="bg1"/>
                </a:solidFill>
                <a:latin typeface="Courier New" pitchFamily="34" charset="0"/>
                <a:ea typeface="Courier New" pitchFamily="34" charset="-122"/>
                <a:cs typeface="Courier New" pitchFamily="34" charset="-120"/>
              </a:rPr>
              <a:t>express 4</a:t>
            </a:r>
            <a:endParaRPr lang="en-US" sz="1300" dirty="0"/>
          </a:p>
        </p:txBody>
      </p:sp>
      <p:sp>
        <p:nvSpPr>
          <p:cNvPr id="31" name="pill271"/>
          <p:cNvSpPr txBox="1"/>
          <p:nvPr/>
        </p:nvSpPr>
        <p:spPr>
          <a:xfrm>
            <a:off x="7498080" y="3785616"/>
            <a:ext cx="1051560" cy="228600"/>
          </a:xfrm>
          <a:prstGeom prst="roundRect">
            <a:avLst>
              <a:gd name="adj" fmla="val 56000"/>
            </a:avLst>
          </a:prstGeom>
          <a:solidFill>
            <a:schemeClr val="accent6"/>
          </a:solidFill>
          <a:ln/>
        </p:spPr>
        <p:txBody>
          <a:bodyPr wrap="square" lIns="0" tIns="0" rIns="0" bIns="0" rtlCol="0" anchor="ctr"/>
          <a:lstStyle/>
          <a:p>
            <a:pPr marL="0" indent="0" algn="ctr">
              <a:buNone/>
            </a:pPr>
            <a:r>
              <a:rPr lang="en-US" sz="1000" b="1" kern="0" spc="100" dirty="0">
                <a:solidFill>
                  <a:schemeClr val="accent4"/>
                </a:solidFill>
              </a:rPr>
              <a:t>MODERATE</a:t>
            </a:r>
            <a:endParaRPr lang="en-US" sz="1000" dirty="0"/>
          </a:p>
        </p:txBody>
      </p:sp>
      <p:sp>
        <p:nvSpPr>
          <p:cNvPr id="32" name="text272"/>
          <p:cNvSpPr txBox="1"/>
          <p:nvPr/>
        </p:nvSpPr>
        <p:spPr>
          <a:xfrm>
            <a:off x="4956048" y="4059936"/>
            <a:ext cx="3611880" cy="365760"/>
          </a:xfrm>
          <a:prstGeom prst="rect">
            <a:avLst/>
          </a:prstGeom>
          <a:noFill/>
          <a:ln/>
        </p:spPr>
        <p:txBody>
          <a:bodyPr wrap="square" lIns="0" tIns="0" rIns="0" bIns="0" rtlCol="0" anchor="t"/>
          <a:lstStyle/>
          <a:p>
            <a:pPr marL="0" indent="0">
              <a:buNone/>
            </a:pPr>
            <a:r>
              <a:rPr lang="en-US" sz="1000" dirty="0">
                <a:solidFill>
                  <a:schemeClr val="bg2"/>
                </a:solidFill>
              </a:rPr>
              <a:t>Flagged because it depends on the vulnerable qs. Fixable with npm audit fix.</a:t>
            </a:r>
            <a:endParaRPr lang="en-US" sz="1000" dirty="0"/>
          </a:p>
        </p:txBody>
      </p:sp>
      <p:sp>
        <p:nvSpPr>
          <p:cNvPr id="33"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82880"/>
            <a:ext cx="8229600" cy="502920"/>
          </a:xfrm>
          <a:prstGeom prst="rect">
            <a:avLst/>
          </a:prstGeom>
          <a:noFill/>
          <a:ln/>
        </p:spPr>
        <p:txBody>
          <a:bodyPr wrap="square" lIns="0" tIns="0" rIns="0" bIns="0" rtlCol="0" anchor="ctr"/>
          <a:lstStyle/>
          <a:p>
            <a:pPr marL="0" indent="0" algn="l">
              <a:buNone/>
            </a:pPr>
            <a:r>
              <a:rPr lang="en-US" sz="3000" b="1" dirty="0">
                <a:solidFill>
                  <a:schemeClr val="bg1"/>
                </a:solidFill>
              </a:rPr>
              <a:t>Packages &amp; libraries</a:t>
            </a:r>
            <a:endParaRPr lang="en-US" sz="3000" dirty="0"/>
          </a:p>
        </p:txBody>
      </p:sp>
      <p:sp>
        <p:nvSpPr>
          <p:cNvPr id="3" name="text273"/>
          <p:cNvSpPr txBox="1"/>
          <p:nvPr/>
        </p:nvSpPr>
        <p:spPr>
          <a:xfrm>
            <a:off x="457200" y="676656"/>
            <a:ext cx="8229600" cy="274320"/>
          </a:xfrm>
          <a:prstGeom prst="rect">
            <a:avLst/>
          </a:prstGeom>
          <a:noFill/>
          <a:ln/>
        </p:spPr>
        <p:txBody>
          <a:bodyPr wrap="square" lIns="0" tIns="0" rIns="0" bIns="0" rtlCol="0" anchor="ctr"/>
          <a:lstStyle/>
          <a:p>
            <a:pPr marL="0" indent="0">
              <a:buNone/>
            </a:pPr>
            <a:r>
              <a:rPr lang="en-US" sz="1400" dirty="0">
                <a:solidFill>
                  <a:schemeClr val="accent3"/>
                </a:solidFill>
              </a:rPr>
              <a:t>Node.js packages · Cordova · vendored UI (docs/packages.md)</a:t>
            </a:r>
            <a:endParaRPr lang="en-US" sz="1400" dirty="0"/>
          </a:p>
        </p:txBody>
      </p:sp>
      <p:sp>
        <p:nvSpPr>
          <p:cNvPr id="4" name="card274"/>
          <p:cNvSpPr/>
          <p:nvPr/>
        </p:nvSpPr>
        <p:spPr>
          <a:xfrm>
            <a:off x="457200" y="1143000"/>
            <a:ext cx="2624328" cy="3383280"/>
          </a:xfrm>
          <a:prstGeom prst="roundRect">
            <a:avLst>
              <a:gd name="adj" fmla="val 4181"/>
            </a:avLst>
          </a:prstGeom>
          <a:solidFill>
            <a:schemeClr val="tx2"/>
          </a:solidFill>
          <a:ln w="9525">
            <a:solidFill>
              <a:schemeClr val="accent6"/>
            </a:solidFill>
            <a:prstDash val="solid"/>
          </a:ln>
        </p:spPr>
        <p:txBody>
          <a:bodyPr/>
          <a:lstStyle/>
          <a:p>
            <a:endParaRPr lang="en-US"/>
          </a:p>
        </p:txBody>
      </p:sp>
      <p:sp>
        <p:nvSpPr>
          <p:cNvPr id="5" name="text275"/>
          <p:cNvSpPr txBox="1"/>
          <p:nvPr/>
        </p:nvSpPr>
        <p:spPr>
          <a:xfrm>
            <a:off x="658368" y="1325880"/>
            <a:ext cx="2240280" cy="320040"/>
          </a:xfrm>
          <a:prstGeom prst="rect">
            <a:avLst/>
          </a:prstGeom>
          <a:noFill/>
          <a:ln/>
        </p:spPr>
        <p:txBody>
          <a:bodyPr wrap="square" lIns="0" tIns="0" rIns="0" bIns="0" rtlCol="0" anchor="t"/>
          <a:lstStyle/>
          <a:p>
            <a:pPr marL="0" indent="0">
              <a:buNone/>
            </a:pPr>
            <a:r>
              <a:rPr lang="en-US" sz="1800" b="1" dirty="0">
                <a:solidFill>
                  <a:schemeClr val="accent2"/>
                </a:solidFill>
              </a:rPr>
              <a:t>Server (npm)</a:t>
            </a:r>
            <a:endParaRPr lang="en-US" sz="1800" dirty="0"/>
          </a:p>
        </p:txBody>
      </p:sp>
      <p:sp>
        <p:nvSpPr>
          <p:cNvPr id="6" name="text276"/>
          <p:cNvSpPr txBox="1"/>
          <p:nvPr/>
        </p:nvSpPr>
        <p:spPr>
          <a:xfrm>
            <a:off x="658368" y="1783080"/>
            <a:ext cx="224028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express · mongoose</a:t>
            </a:r>
            <a:endParaRPr lang="en-US" sz="1400" dirty="0"/>
          </a:p>
          <a:p>
            <a:pPr marL="342900" indent="-342900">
              <a:spcAft>
                <a:spcPts val="600"/>
              </a:spcAft>
              <a:buSzPct val="100000"/>
              <a:buChar char="•"/>
            </a:pPr>
            <a:r>
              <a:rPr lang="en-US" sz="1400" dirty="0">
                <a:solidFill>
                  <a:schemeClr val="bg1"/>
                </a:solidFill>
              </a:rPr>
              <a:t>passport + local/JWT</a:t>
            </a:r>
            <a:endParaRPr lang="en-US" sz="1400" dirty="0"/>
          </a:p>
          <a:p>
            <a:pPr marL="342900" indent="-342900">
              <a:spcAft>
                <a:spcPts val="600"/>
              </a:spcAft>
              <a:buSzPct val="100000"/>
              <a:buChar char="•"/>
            </a:pPr>
            <a:r>
              <a:rPr lang="en-US" sz="1400" dirty="0">
                <a:solidFill>
                  <a:schemeClr val="bg1"/>
                </a:solidFill>
              </a:rPr>
              <a:t>jsonwebtoken · bcrypt</a:t>
            </a:r>
            <a:endParaRPr lang="en-US" sz="1400" dirty="0"/>
          </a:p>
          <a:p>
            <a:pPr marL="342900" indent="-342900">
              <a:spcAft>
                <a:spcPts val="600"/>
              </a:spcAft>
              <a:buSzPct val="100000"/>
              <a:buChar char="•"/>
            </a:pPr>
            <a:r>
              <a:rPr lang="en-US" sz="1400" dirty="0">
                <a:solidFill>
                  <a:schemeClr val="bg1"/>
                </a:solidFill>
              </a:rPr>
              <a:t>cors · dotenv</a:t>
            </a:r>
            <a:endParaRPr lang="en-US" sz="1400" dirty="0"/>
          </a:p>
        </p:txBody>
      </p:sp>
      <p:sp>
        <p:nvSpPr>
          <p:cNvPr id="7" name="text277"/>
          <p:cNvSpPr txBox="1"/>
          <p:nvPr/>
        </p:nvSpPr>
        <p:spPr>
          <a:xfrm>
            <a:off x="658368" y="3749040"/>
            <a:ext cx="2240280" cy="594360"/>
          </a:xfrm>
          <a:prstGeom prst="rect">
            <a:avLst/>
          </a:prstGeom>
          <a:noFill/>
          <a:ln/>
        </p:spPr>
        <p:txBody>
          <a:bodyPr wrap="square" lIns="0" tIns="0" rIns="0" bIns="0" rtlCol="0" anchor="b"/>
          <a:lstStyle/>
          <a:p>
            <a:pPr marL="0" indent="0">
              <a:buNone/>
            </a:pPr>
            <a:r>
              <a:rPr lang="en-US" sz="1200" dirty="0">
                <a:solidFill>
                  <a:schemeClr val="bg2"/>
                </a:solidFill>
              </a:rPr>
              <a:t>Dev: vitest, supertest, nodemon, oxlint/oxfmt</a:t>
            </a:r>
            <a:endParaRPr lang="en-US" sz="1200" dirty="0"/>
          </a:p>
        </p:txBody>
      </p:sp>
      <p:sp>
        <p:nvSpPr>
          <p:cNvPr id="8" name="card278"/>
          <p:cNvSpPr/>
          <p:nvPr/>
        </p:nvSpPr>
        <p:spPr>
          <a:xfrm>
            <a:off x="3264408" y="1143000"/>
            <a:ext cx="2624328" cy="3383280"/>
          </a:xfrm>
          <a:prstGeom prst="roundRect">
            <a:avLst>
              <a:gd name="adj" fmla="val 4181"/>
            </a:avLst>
          </a:prstGeom>
          <a:solidFill>
            <a:schemeClr val="tx2"/>
          </a:solidFill>
          <a:ln w="9525">
            <a:solidFill>
              <a:schemeClr val="accent6"/>
            </a:solidFill>
            <a:prstDash val="solid"/>
          </a:ln>
        </p:spPr>
        <p:txBody>
          <a:bodyPr/>
          <a:lstStyle/>
          <a:p>
            <a:endParaRPr lang="en-US"/>
          </a:p>
        </p:txBody>
      </p:sp>
      <p:sp>
        <p:nvSpPr>
          <p:cNvPr id="9" name="text279"/>
          <p:cNvSpPr txBox="1"/>
          <p:nvPr/>
        </p:nvSpPr>
        <p:spPr>
          <a:xfrm>
            <a:off x="3465576" y="1325880"/>
            <a:ext cx="2240280" cy="320040"/>
          </a:xfrm>
          <a:prstGeom prst="rect">
            <a:avLst/>
          </a:prstGeom>
          <a:noFill/>
          <a:ln/>
        </p:spPr>
        <p:txBody>
          <a:bodyPr wrap="square" lIns="0" tIns="0" rIns="0" bIns="0" rtlCol="0" anchor="t"/>
          <a:lstStyle/>
          <a:p>
            <a:pPr marL="0" indent="0">
              <a:buNone/>
            </a:pPr>
            <a:r>
              <a:rPr lang="en-US" sz="1800" b="1" dirty="0">
                <a:solidFill>
                  <a:schemeClr val="accent1"/>
                </a:solidFill>
              </a:rPr>
              <a:t>Cordova (npm)</a:t>
            </a:r>
            <a:endParaRPr lang="en-US" sz="1800" dirty="0"/>
          </a:p>
        </p:txBody>
      </p:sp>
      <p:sp>
        <p:nvSpPr>
          <p:cNvPr id="10" name="text280"/>
          <p:cNvSpPr txBox="1"/>
          <p:nvPr/>
        </p:nvSpPr>
        <p:spPr>
          <a:xfrm>
            <a:off x="3465576" y="1783080"/>
            <a:ext cx="224028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cordova (CLI)</a:t>
            </a:r>
            <a:endParaRPr lang="en-US" sz="1400" dirty="0"/>
          </a:p>
          <a:p>
            <a:pPr marL="342900" indent="-342900">
              <a:spcAft>
                <a:spcPts val="600"/>
              </a:spcAft>
              <a:buSzPct val="100000"/>
              <a:buChar char="•"/>
            </a:pPr>
            <a:r>
              <a:rPr lang="en-US" sz="1400" dirty="0">
                <a:solidFill>
                  <a:schemeClr val="bg1"/>
                </a:solidFill>
              </a:rPr>
              <a:t>cordova-android</a:t>
            </a:r>
            <a:endParaRPr lang="en-US" sz="1400" dirty="0"/>
          </a:p>
          <a:p>
            <a:pPr marL="342900" indent="-342900">
              <a:spcAft>
                <a:spcPts val="600"/>
              </a:spcAft>
              <a:buSzPct val="100000"/>
              <a:buChar char="•"/>
            </a:pPr>
            <a:r>
              <a:rPr lang="en-US" sz="1400" dirty="0">
                <a:solidFill>
                  <a:schemeClr val="bg1"/>
                </a:solidFill>
              </a:rPr>
              <a:t>cordova-plugin-camera</a:t>
            </a:r>
            <a:endParaRPr lang="en-US" sz="1400" dirty="0"/>
          </a:p>
        </p:txBody>
      </p:sp>
      <p:sp>
        <p:nvSpPr>
          <p:cNvPr id="11" name="text281"/>
          <p:cNvSpPr txBox="1"/>
          <p:nvPr/>
        </p:nvSpPr>
        <p:spPr>
          <a:xfrm>
            <a:off x="3465576" y="3749040"/>
            <a:ext cx="2240280" cy="594360"/>
          </a:xfrm>
          <a:prstGeom prst="rect">
            <a:avLst/>
          </a:prstGeom>
          <a:noFill/>
          <a:ln/>
        </p:spPr>
        <p:txBody>
          <a:bodyPr wrap="square" lIns="0" tIns="0" rIns="0" bIns="0" rtlCol="0" anchor="b"/>
          <a:lstStyle/>
          <a:p>
            <a:pPr marL="0" indent="0">
              <a:buNone/>
            </a:pPr>
            <a:r>
              <a:rPr lang="en-US" sz="1200" dirty="0">
                <a:solidFill>
                  <a:schemeClr val="bg2"/>
                </a:solidFill>
              </a:rPr>
              <a:t>Listing photos on device / emulator</a:t>
            </a:r>
            <a:endParaRPr lang="en-US" sz="1200" dirty="0"/>
          </a:p>
        </p:txBody>
      </p:sp>
      <p:sp>
        <p:nvSpPr>
          <p:cNvPr id="12" name="card282"/>
          <p:cNvSpPr/>
          <p:nvPr/>
        </p:nvSpPr>
        <p:spPr>
          <a:xfrm>
            <a:off x="6071616" y="1143000"/>
            <a:ext cx="2624328" cy="3383280"/>
          </a:xfrm>
          <a:prstGeom prst="roundRect">
            <a:avLst>
              <a:gd name="adj" fmla="val 4181"/>
            </a:avLst>
          </a:prstGeom>
          <a:solidFill>
            <a:schemeClr val="tx2"/>
          </a:solidFill>
          <a:ln w="9525">
            <a:solidFill>
              <a:schemeClr val="accent6"/>
            </a:solidFill>
            <a:prstDash val="solid"/>
          </a:ln>
        </p:spPr>
        <p:txBody>
          <a:bodyPr/>
          <a:lstStyle/>
          <a:p>
            <a:endParaRPr lang="en-US"/>
          </a:p>
        </p:txBody>
      </p:sp>
      <p:sp>
        <p:nvSpPr>
          <p:cNvPr id="13" name="text283"/>
          <p:cNvSpPr txBox="1"/>
          <p:nvPr/>
        </p:nvSpPr>
        <p:spPr>
          <a:xfrm>
            <a:off x="6272784" y="1325880"/>
            <a:ext cx="2240280" cy="320040"/>
          </a:xfrm>
          <a:prstGeom prst="rect">
            <a:avLst/>
          </a:prstGeom>
          <a:noFill/>
          <a:ln/>
        </p:spPr>
        <p:txBody>
          <a:bodyPr wrap="square" lIns="0" tIns="0" rIns="0" bIns="0" rtlCol="0" anchor="t"/>
          <a:lstStyle/>
          <a:p>
            <a:pPr marL="0" indent="0">
              <a:buNone/>
            </a:pPr>
            <a:r>
              <a:rPr lang="en-US" sz="1800" b="1" dirty="0">
                <a:solidFill>
                  <a:schemeClr val="accent3"/>
                </a:solidFill>
              </a:rPr>
              <a:t>Client (vendored)</a:t>
            </a:r>
            <a:endParaRPr lang="en-US" sz="1800" dirty="0"/>
          </a:p>
        </p:txBody>
      </p:sp>
      <p:sp>
        <p:nvSpPr>
          <p:cNvPr id="14" name="text284"/>
          <p:cNvSpPr txBox="1"/>
          <p:nvPr/>
        </p:nvSpPr>
        <p:spPr>
          <a:xfrm>
            <a:off x="6272784" y="1783080"/>
            <a:ext cx="224028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jQuery 2.2.4</a:t>
            </a:r>
            <a:endParaRPr lang="en-US" sz="1400" dirty="0"/>
          </a:p>
          <a:p>
            <a:pPr marL="342900" indent="-342900">
              <a:spcAft>
                <a:spcPts val="600"/>
              </a:spcAft>
              <a:buSzPct val="100000"/>
              <a:buChar char="•"/>
            </a:pPr>
            <a:r>
              <a:rPr lang="en-US" sz="1400" dirty="0">
                <a:solidFill>
                  <a:schemeClr val="bg1"/>
                </a:solidFill>
              </a:rPr>
              <a:t>jQuery Mobile 1.4.5</a:t>
            </a:r>
            <a:endParaRPr lang="en-US" sz="1400" dirty="0"/>
          </a:p>
          <a:p>
            <a:pPr marL="342900" indent="-342900">
              <a:spcAft>
                <a:spcPts val="600"/>
              </a:spcAft>
              <a:buSzPct val="100000"/>
              <a:buChar char="•"/>
            </a:pPr>
            <a:r>
              <a:rPr lang="en-US" sz="1400" dirty="0">
                <a:solidFill>
                  <a:schemeClr val="bg1"/>
                </a:solidFill>
              </a:rPr>
              <a:t>(under www/lib/)</a:t>
            </a:r>
            <a:endParaRPr lang="en-US" sz="1400" dirty="0"/>
          </a:p>
        </p:txBody>
      </p:sp>
      <p:sp>
        <p:nvSpPr>
          <p:cNvPr id="15" name="text285"/>
          <p:cNvSpPr txBox="1"/>
          <p:nvPr/>
        </p:nvSpPr>
        <p:spPr>
          <a:xfrm>
            <a:off x="6272784" y="3749040"/>
            <a:ext cx="2240280" cy="594360"/>
          </a:xfrm>
          <a:prstGeom prst="rect">
            <a:avLst/>
          </a:prstGeom>
          <a:noFill/>
          <a:ln/>
        </p:spPr>
        <p:txBody>
          <a:bodyPr wrap="square" lIns="0" tIns="0" rIns="0" bIns="0" rtlCol="0" anchor="b"/>
          <a:lstStyle/>
          <a:p>
            <a:pPr marL="0" indent="0">
              <a:buNone/>
            </a:pPr>
            <a:r>
              <a:rPr lang="en-US" sz="1200" dirty="0">
                <a:solidFill>
                  <a:schemeClr val="bg2"/>
                </a:solidFill>
              </a:rPr>
              <a:t>No transpile step for day-to-day UI</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600200"/>
            <a:ext cx="4937760" cy="914400"/>
          </a:xfrm>
          <a:prstGeom prst="rect">
            <a:avLst/>
          </a:prstGeom>
          <a:noFill/>
          <a:ln/>
        </p:spPr>
        <p:txBody>
          <a:bodyPr wrap="square" lIns="0" tIns="0" rIns="0" bIns="0" rtlCol="0" anchor="ctr"/>
          <a:lstStyle/>
          <a:p>
            <a:pPr marL="0" indent="0" algn="l">
              <a:buNone/>
            </a:pPr>
            <a:r>
              <a:rPr lang="en-US" sz="5400" b="1" dirty="0">
                <a:solidFill>
                  <a:schemeClr val="bg1"/>
                </a:solidFill>
              </a:rPr>
              <a:t>Live demo</a:t>
            </a:r>
            <a:endParaRPr lang="en-US" sz="5400" dirty="0"/>
          </a:p>
        </p:txBody>
      </p:sp>
      <p:sp>
        <p:nvSpPr>
          <p:cNvPr id="3" name="Text 0"/>
          <p:cNvSpPr>
            <a:spLocks noGrp="1"/>
          </p:cNvSpPr>
          <p:nvPr>
            <p:ph type="body" idx="101" hasCustomPrompt="1"/>
          </p:nvPr>
        </p:nvSpPr>
        <p:spPr>
          <a:xfrm>
            <a:off x="548640" y="2560320"/>
            <a:ext cx="4937760" cy="548640"/>
          </a:xfrm>
          <a:prstGeom prst="rect">
            <a:avLst/>
          </a:prstGeom>
          <a:noFill/>
          <a:ln/>
        </p:spPr>
        <p:txBody>
          <a:bodyPr wrap="square" lIns="0" tIns="0" rIns="0" bIns="0" rtlCol="0" anchor="t"/>
          <a:lstStyle/>
          <a:p>
            <a:pPr marL="0" indent="0" algn="l">
              <a:buNone/>
            </a:pPr>
            <a:r>
              <a:rPr lang="en-US" sz="2000" dirty="0">
                <a:solidFill>
                  <a:schemeClr val="accent1"/>
                </a:solidFill>
              </a:rPr>
              <a:t>Then your questions</a:t>
            </a:r>
            <a:endParaRPr lang="en-US" sz="2000" dirty="0"/>
          </a:p>
        </p:txBody>
      </p:sp>
      <p:sp>
        <p:nvSpPr>
          <p:cNvPr id="4" name="card286"/>
          <p:cNvSpPr/>
          <p:nvPr/>
        </p:nvSpPr>
        <p:spPr>
          <a:xfrm>
            <a:off x="5577840" y="1005840"/>
            <a:ext cx="3108960" cy="548640"/>
          </a:xfrm>
          <a:prstGeom prst="roundRect">
            <a:avLst>
              <a:gd name="adj" fmla="val 20000"/>
            </a:avLst>
          </a:prstGeom>
          <a:solidFill>
            <a:schemeClr val="tx2"/>
          </a:solidFill>
          <a:ln w="9525">
            <a:solidFill>
              <a:schemeClr val="accent6"/>
            </a:solidFill>
            <a:prstDash val="solid"/>
          </a:ln>
        </p:spPr>
        <p:txBody>
          <a:bodyPr/>
          <a:lstStyle/>
          <a:p>
            <a:endParaRPr lang="en-US"/>
          </a:p>
        </p:txBody>
      </p:sp>
      <p:sp>
        <p:nvSpPr>
          <p:cNvPr id="5" name="dot287"/>
          <p:cNvSpPr txBox="1"/>
          <p:nvPr/>
        </p:nvSpPr>
        <p:spPr>
          <a:xfrm>
            <a:off x="5687568" y="1088136"/>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1</a:t>
            </a:r>
            <a:endParaRPr lang="en-US" sz="1400" dirty="0"/>
          </a:p>
        </p:txBody>
      </p:sp>
      <p:sp>
        <p:nvSpPr>
          <p:cNvPr id="6" name="text288"/>
          <p:cNvSpPr txBox="1"/>
          <p:nvPr/>
        </p:nvSpPr>
        <p:spPr>
          <a:xfrm>
            <a:off x="6217920" y="1005840"/>
            <a:ext cx="2377440" cy="548640"/>
          </a:xfrm>
          <a:prstGeom prst="rect">
            <a:avLst/>
          </a:prstGeom>
          <a:noFill/>
          <a:ln/>
        </p:spPr>
        <p:txBody>
          <a:bodyPr wrap="square" lIns="0" tIns="0" rIns="0" bIns="0" rtlCol="0" anchor="ctr"/>
          <a:lstStyle/>
          <a:p>
            <a:pPr marL="0" indent="0">
              <a:buNone/>
            </a:pPr>
            <a:r>
              <a:rPr lang="en-US" sz="1300" dirty="0">
                <a:solidFill>
                  <a:schemeClr val="bg1"/>
                </a:solidFill>
              </a:rPr>
              <a:t>Sign up and log in</a:t>
            </a:r>
            <a:endParaRPr lang="en-US" sz="1300" dirty="0"/>
          </a:p>
        </p:txBody>
      </p:sp>
      <p:sp>
        <p:nvSpPr>
          <p:cNvPr id="7" name="card289"/>
          <p:cNvSpPr/>
          <p:nvPr/>
        </p:nvSpPr>
        <p:spPr>
          <a:xfrm>
            <a:off x="5577840" y="1664208"/>
            <a:ext cx="3108960" cy="548640"/>
          </a:xfrm>
          <a:prstGeom prst="roundRect">
            <a:avLst>
              <a:gd name="adj" fmla="val 20000"/>
            </a:avLst>
          </a:prstGeom>
          <a:solidFill>
            <a:schemeClr val="tx2"/>
          </a:solidFill>
          <a:ln w="9525">
            <a:solidFill>
              <a:schemeClr val="accent6"/>
            </a:solidFill>
            <a:prstDash val="solid"/>
          </a:ln>
        </p:spPr>
        <p:txBody>
          <a:bodyPr/>
          <a:lstStyle/>
          <a:p>
            <a:endParaRPr lang="en-US"/>
          </a:p>
        </p:txBody>
      </p:sp>
      <p:sp>
        <p:nvSpPr>
          <p:cNvPr id="8" name="dot290"/>
          <p:cNvSpPr txBox="1"/>
          <p:nvPr/>
        </p:nvSpPr>
        <p:spPr>
          <a:xfrm>
            <a:off x="5687568" y="1746504"/>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2</a:t>
            </a:r>
            <a:endParaRPr lang="en-US" sz="1400" dirty="0"/>
          </a:p>
        </p:txBody>
      </p:sp>
      <p:sp>
        <p:nvSpPr>
          <p:cNvPr id="9" name="text291"/>
          <p:cNvSpPr txBox="1"/>
          <p:nvPr/>
        </p:nvSpPr>
        <p:spPr>
          <a:xfrm>
            <a:off x="6217920" y="1664208"/>
            <a:ext cx="2377440" cy="548640"/>
          </a:xfrm>
          <a:prstGeom prst="rect">
            <a:avLst/>
          </a:prstGeom>
          <a:noFill/>
          <a:ln/>
        </p:spPr>
        <p:txBody>
          <a:bodyPr wrap="square" lIns="0" tIns="0" rIns="0" bIns="0" rtlCol="0" anchor="ctr"/>
          <a:lstStyle/>
          <a:p>
            <a:pPr marL="0" indent="0">
              <a:buNone/>
            </a:pPr>
            <a:r>
              <a:rPr lang="en-US" sz="1300" dirty="0">
                <a:solidFill>
                  <a:schemeClr val="bg1"/>
                </a:solidFill>
              </a:rPr>
              <a:t>Browse, search, filter and sort</a:t>
            </a:r>
            <a:endParaRPr lang="en-US" sz="1300" dirty="0"/>
          </a:p>
        </p:txBody>
      </p:sp>
      <p:sp>
        <p:nvSpPr>
          <p:cNvPr id="10" name="card292"/>
          <p:cNvSpPr/>
          <p:nvPr/>
        </p:nvSpPr>
        <p:spPr>
          <a:xfrm>
            <a:off x="5577840" y="2322576"/>
            <a:ext cx="3108960" cy="548640"/>
          </a:xfrm>
          <a:prstGeom prst="roundRect">
            <a:avLst>
              <a:gd name="adj" fmla="val 20000"/>
            </a:avLst>
          </a:prstGeom>
          <a:solidFill>
            <a:schemeClr val="tx2"/>
          </a:solidFill>
          <a:ln w="9525">
            <a:solidFill>
              <a:schemeClr val="accent6"/>
            </a:solidFill>
            <a:prstDash val="solid"/>
          </a:ln>
        </p:spPr>
        <p:txBody>
          <a:bodyPr/>
          <a:lstStyle/>
          <a:p>
            <a:endParaRPr lang="en-US"/>
          </a:p>
        </p:txBody>
      </p:sp>
      <p:sp>
        <p:nvSpPr>
          <p:cNvPr id="11" name="dot293"/>
          <p:cNvSpPr txBox="1"/>
          <p:nvPr/>
        </p:nvSpPr>
        <p:spPr>
          <a:xfrm>
            <a:off x="5687568" y="2404872"/>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3</a:t>
            </a:r>
            <a:endParaRPr lang="en-US" sz="1400" dirty="0"/>
          </a:p>
        </p:txBody>
      </p:sp>
      <p:sp>
        <p:nvSpPr>
          <p:cNvPr id="12" name="text294"/>
          <p:cNvSpPr txBox="1"/>
          <p:nvPr/>
        </p:nvSpPr>
        <p:spPr>
          <a:xfrm>
            <a:off x="6217920" y="2322576"/>
            <a:ext cx="2377440" cy="548640"/>
          </a:xfrm>
          <a:prstGeom prst="rect">
            <a:avLst/>
          </a:prstGeom>
          <a:noFill/>
          <a:ln/>
        </p:spPr>
        <p:txBody>
          <a:bodyPr wrap="square" lIns="0" tIns="0" rIns="0" bIns="0" rtlCol="0" anchor="ctr"/>
          <a:lstStyle/>
          <a:p>
            <a:pPr marL="0" indent="0">
              <a:buNone/>
            </a:pPr>
            <a:r>
              <a:rPr lang="en-US" sz="1300" dirty="0">
                <a:solidFill>
                  <a:schemeClr val="bg1"/>
                </a:solidFill>
              </a:rPr>
              <a:t>Create a listing with a photo</a:t>
            </a:r>
            <a:endParaRPr lang="en-US" sz="1300" dirty="0"/>
          </a:p>
        </p:txBody>
      </p:sp>
      <p:sp>
        <p:nvSpPr>
          <p:cNvPr id="13" name="card295"/>
          <p:cNvSpPr/>
          <p:nvPr/>
        </p:nvSpPr>
        <p:spPr>
          <a:xfrm>
            <a:off x="5577840" y="2980944"/>
            <a:ext cx="3108960" cy="548640"/>
          </a:xfrm>
          <a:prstGeom prst="roundRect">
            <a:avLst>
              <a:gd name="adj" fmla="val 20000"/>
            </a:avLst>
          </a:prstGeom>
          <a:solidFill>
            <a:schemeClr val="tx2"/>
          </a:solidFill>
          <a:ln w="9525">
            <a:solidFill>
              <a:schemeClr val="accent6"/>
            </a:solidFill>
            <a:prstDash val="solid"/>
          </a:ln>
        </p:spPr>
        <p:txBody>
          <a:bodyPr/>
          <a:lstStyle/>
          <a:p>
            <a:endParaRPr lang="en-US"/>
          </a:p>
        </p:txBody>
      </p:sp>
      <p:sp>
        <p:nvSpPr>
          <p:cNvPr id="14" name="dot296"/>
          <p:cNvSpPr txBox="1"/>
          <p:nvPr/>
        </p:nvSpPr>
        <p:spPr>
          <a:xfrm>
            <a:off x="5687568" y="3063240"/>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4</a:t>
            </a:r>
            <a:endParaRPr lang="en-US" sz="1400" dirty="0"/>
          </a:p>
        </p:txBody>
      </p:sp>
      <p:sp>
        <p:nvSpPr>
          <p:cNvPr id="15" name="text297"/>
          <p:cNvSpPr txBox="1"/>
          <p:nvPr/>
        </p:nvSpPr>
        <p:spPr>
          <a:xfrm>
            <a:off x="6217920" y="2980944"/>
            <a:ext cx="2377440" cy="548640"/>
          </a:xfrm>
          <a:prstGeom prst="rect">
            <a:avLst/>
          </a:prstGeom>
          <a:noFill/>
          <a:ln/>
        </p:spPr>
        <p:txBody>
          <a:bodyPr wrap="square" lIns="0" tIns="0" rIns="0" bIns="0" rtlCol="0" anchor="ctr"/>
          <a:lstStyle/>
          <a:p>
            <a:pPr marL="0" indent="0">
              <a:buNone/>
            </a:pPr>
            <a:r>
              <a:rPr lang="en-US" sz="1300" dirty="0">
                <a:solidFill>
                  <a:schemeClr val="bg1"/>
                </a:solidFill>
              </a:rPr>
              <a:t>Edit, mark as sold, delete</a:t>
            </a:r>
            <a:endParaRPr lang="en-US" sz="1300" dirty="0"/>
          </a:p>
        </p:txBody>
      </p:sp>
      <p:sp>
        <p:nvSpPr>
          <p:cNvPr id="16" name="card298"/>
          <p:cNvSpPr/>
          <p:nvPr/>
        </p:nvSpPr>
        <p:spPr>
          <a:xfrm>
            <a:off x="5577840" y="3639312"/>
            <a:ext cx="3108960" cy="548640"/>
          </a:xfrm>
          <a:prstGeom prst="roundRect">
            <a:avLst>
              <a:gd name="adj" fmla="val 20000"/>
            </a:avLst>
          </a:prstGeom>
          <a:solidFill>
            <a:schemeClr val="tx2"/>
          </a:solidFill>
          <a:ln w="9525">
            <a:solidFill>
              <a:schemeClr val="accent6"/>
            </a:solidFill>
            <a:prstDash val="solid"/>
          </a:ln>
        </p:spPr>
        <p:txBody>
          <a:bodyPr/>
          <a:lstStyle/>
          <a:p>
            <a:endParaRPr lang="en-US"/>
          </a:p>
        </p:txBody>
      </p:sp>
      <p:sp>
        <p:nvSpPr>
          <p:cNvPr id="17" name="dot299"/>
          <p:cNvSpPr txBox="1"/>
          <p:nvPr/>
        </p:nvSpPr>
        <p:spPr>
          <a:xfrm>
            <a:off x="5687568" y="3721608"/>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rPr>
              <a:t>5</a:t>
            </a:r>
            <a:endParaRPr lang="en-US" sz="1400" dirty="0"/>
          </a:p>
        </p:txBody>
      </p:sp>
      <p:sp>
        <p:nvSpPr>
          <p:cNvPr id="18" name="text300"/>
          <p:cNvSpPr txBox="1"/>
          <p:nvPr/>
        </p:nvSpPr>
        <p:spPr>
          <a:xfrm>
            <a:off x="6217920" y="3639312"/>
            <a:ext cx="2377440" cy="548640"/>
          </a:xfrm>
          <a:prstGeom prst="rect">
            <a:avLst/>
          </a:prstGeom>
          <a:noFill/>
          <a:ln/>
        </p:spPr>
        <p:txBody>
          <a:bodyPr wrap="square" lIns="0" tIns="0" rIns="0" bIns="0" rtlCol="0" anchor="ctr"/>
          <a:lstStyle/>
          <a:p>
            <a:pPr marL="0" indent="0">
              <a:buNone/>
            </a:pPr>
            <a:r>
              <a:rPr lang="en-US" sz="1300" dirty="0">
                <a:solidFill>
                  <a:schemeClr val="bg1"/>
                </a:solidFill>
              </a:rPr>
              <a:t>Profile and log out</a:t>
            </a:r>
            <a:endParaRPr lang="en-US" sz="1300" dirty="0"/>
          </a:p>
        </p:txBody>
      </p:sp>
    </p:spTree>
  </p:cSld>
  <p:clrMapOvr>
    <a:masterClrMapping/>
  </p:clrMapOvr>
</p:sld>
</file>

<file path=ppt/theme/theme1.xml><?xml version="1.0" encoding="utf-8"?>
<a:theme xmlns:a="http://schemas.openxmlformats.org/drawingml/2006/main" name="StudySwap">
  <a:themeElements>
    <a:clrScheme name="StudySwap">
      <a:dk1>
        <a:srgbClr val="11121A"/>
      </a:dk1>
      <a:lt1>
        <a:srgbClr val="E8E8F7"/>
      </a:lt1>
      <a:dk2>
        <a:srgbClr val="1E1F2C"/>
      </a:dk2>
      <a:lt2>
        <a:srgbClr val="A9ABC2"/>
      </a:lt2>
      <a:accent1>
        <a:srgbClr val="C4A7F0"/>
      </a:accent1>
      <a:accent2>
        <a:srgbClr val="F2A869"/>
      </a:accent2>
      <a:accent3>
        <a:srgbClr val="7FD1C1"/>
      </a:accent3>
      <a:accent4>
        <a:srgbClr val="7FA8F5"/>
      </a:accent4>
      <a:accent5>
        <a:srgbClr val="F07A8A"/>
      </a:accent5>
      <a:accent6>
        <a:srgbClr val="2D2F42"/>
      </a:accent6>
      <a:hlink>
        <a:srgbClr val="C4A7F0"/>
      </a:hlink>
      <a:folHlink>
        <a:srgbClr val="A9ABC2"/>
      </a:folHlink>
    </a:clrScheme>
    <a:fontScheme name="StudySwap">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2258</Words>
  <Application>Microsoft Macintosh PowerPoint</Application>
  <PresentationFormat>On-screen Show (16:9)</PresentationFormat>
  <Paragraphs>335</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Courier New</vt:lpstr>
      <vt:lpstr>StudySwap</vt:lpstr>
      <vt:lpstr>StudySwap</vt:lpstr>
      <vt:lpstr>What we will cover</vt:lpstr>
      <vt:lpstr>Motivation: No trusted place to trade on campus</vt:lpstr>
      <vt:lpstr>High-level user requirements</vt:lpstr>
      <vt:lpstr>Software architecture</vt:lpstr>
      <vt:lpstr>Architecture — key components</vt:lpstr>
      <vt:lpstr>One API, four HTTP request types</vt:lpstr>
      <vt:lpstr>Test results (preliminary)</vt:lpstr>
      <vt:lpstr>How we tested</vt:lpstr>
      <vt:lpstr>Account screens work on a phone-sized view</vt:lpstr>
      <vt:lpstr>A new listing appears in Browse and Profile</vt:lpstr>
      <vt:lpstr>Marking sold updates the listing and the profile</vt:lpstr>
      <vt:lpstr>Vulnerability analysis (preliminary)</vt:lpstr>
      <vt:lpstr>Dependency scan found 6 vulnerabilities</vt:lpstr>
      <vt:lpstr>Packages &amp; libraries</vt:lpstr>
      <vt:lpstr>Live demo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StudySwap - Week 12 Presentation</dc:title>
  <dc:subject>PptxGenJS Presentation</dc:subject>
  <dc:creator>Group D</dc:creator>
  <cp:lastModifiedBy>Thi My Linh Huynh</cp:lastModifiedBy>
  <cp:revision>1</cp:revision>
  <dcterms:created xsi:type="dcterms:W3CDTF">2026-10-05T13:47:27Z</dcterms:created>
  <dcterms:modified xsi:type="dcterms:W3CDTF">2026-10-05T13:51:26Z</dcterms:modified>
</cp:coreProperties>
</file>